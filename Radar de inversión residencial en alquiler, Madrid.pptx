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114" y="10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320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este proyecto responde a una pregunta de inversión, dónde está subiendo el alquiler de Madrid, cuánto pesa en los hogares y qué perfil de demanda lo explica. Base: datos oficiales del Ministerio de Vivienda (SERPAVI) y del INE, a nivel de sección censal, no solo de distrito.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cifras para recordar. 1) El alquiler mediano crece un 3,7% anual entre 2015 y 2022. 2) Crece casi un punto por año más que la renta del hogar. 3) Aun así, el esfuerzo mediano es del 24%, por debajo del 30% que se considera crítico. Mensaje: mercado al alza con tensión localizada.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fuente se limpió en Python, se cargó a MySQL con claves primarias (sección, año) y claves foráneas a secciones y distritos. Los datos faltantes (1,4 a 2,2 %) se dejan sin imputar y se documentan. Se trabaja por sección porque el distrito esconde mucha variación.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punto es una sección. La pendiente es suave: las secciones más caras en 2015 crecieron algo más. Los cuartiles dividen las secciones por su precio inicial. Lectura: boom general, sin que el precio de partida lo explique.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patrón se invierte: tras 2019 las secciones caras son las que más se enfrían y las baratas suben más. Casi ninguna sección baja de precio (1,3%).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sumar las dos fases, el balance es plano: da igual si la sección era cara o barata en 2015. Esto es clave para el inversor: el precio de entrada no es un indicador del crecimiento posterior.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curva es la distribución del crecimiento anual entre las 2.357 secciones. La naranja (2015-2019) está más a la derecha; la azul oscura (2019-2022) se mueve a la izquierda y se ensancha. La punteada es el total.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Dispersión = diferencia entre el cuartil alto y bajo de precios dentro de una misma sección, dividida por su mediana. Un valor alto significa que las viviendas de la sección tienen precios muy distintos entre sí. Centro es el más heterogéneo, Moratalaz el más uniforme.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barra va de la sección más barata a la más cara de un distrito. La banda naranja marca la diferencia entre el distrito más caro y el más barato (7,34 €/m²). En 13 de 21 distritos la barra supera esa banda: hay más variación dentro del distrito que entre distritos. Cuidado: los extremos dependen de una sola sección.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Esfuerzo = alquiler anual del inmueble dividido entre la renta neta del hogar. El 25% es zona de alerta; el 30% es el umbral habitual de sobreesfuerzo. Ningún distrito se acerca al 30%, pero 3 distritos superan el 25%. Como los inquilinos suelen ganar menos que la media, el esfuerzo real probablemente es algo mayor.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Brecha = crecimiento anual compuesto del alquiler menos el de la renta del hogar. El alquiler creció 3,75% anual y la renta 2,81%. En Centro la renta creció más que el alquiler, lo que apunta a un cambio en el perfil de residentes, no a un mercado más barato.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punto es una sección; su tamaño es el número de alquileres. La pendiente indica que cada punto porcentual más de hogares unipersonales se asocia a unos 0,21 euros por metro cuadrado más. Otras variables: tamaño del hogar r = −0,52; edad media y mayores de 65 casi no se relacionan.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Versión simple de la dispersión anterior. Tramos: bajo (menos de 25%, 465 secciones), medio (25-35%, 1.163), alto (35-45%, 593) y muy alto (más de 45%, 175). La relación no es lineal: entre bajo y medio casi no cambia el precio; el salto es a partir del 35%.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Serie 2015-2024 ponderada por número de alquileres. Destacados: Chamberí (más caro), Centro y Villaverde (más barato). No se proyecta a 2027: con 10 observaciones anuales una proyección no tendría base estadística sólida.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Crecimiento anual compuesto 2015-2024 del alquiler ponderado por distrito. Los distritos del centro y el norte crecen más (4,1-4,5%) que los periféricos (3,4-3,7%).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Explicación sencilla. 1) El alquiler sube un 3,7% al año; ahora más despacio, pero casi nunca baja. 2) Los hogares gastan de media el 24% de sus ingresos en alquiler; el límite de alarma es el 30%, y solo tres distritos pasan del 25%. 3) Que una zona sea cara hoy no significa que vaya a subir más: entre 2015 y 2022 las zonas caras y baratas crecieron casi igual. Además, dentro de un distrito hay calles con precios muy distintos, y donde viven más personas solas el alquiler es más caro.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 transparente con las limitaciones refuerza la credibilidad ante inversores. La más relevante: sin precios de venta no se puede calcular la rentabilidad bruta, que es el siguiente paso natural del proyecto.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24520"/>
            <a:ext cx="10566400" cy="700881"/>
          </a:xfrm>
          <a:prstGeom prst="rect">
            <a:avLst/>
          </a:prstGeom>
          <a:noFill/>
          <a:ln/>
        </p:spPr>
        <p:txBody>
          <a:bodyPr wrap="square" lIns="0" tIns="0" rIns="0" bIns="0" rtlCol="0" anchor="t"/>
          <a:lstStyle>
            <a:lvl1pPr marL="0" indent="0" algn="l">
              <a:lnSpc>
                <a:spcPct val="115000"/>
              </a:lnSpc>
              <a:buNone/>
              <a:defRPr lang="en-US" sz="2400" dirty="0">
                <a:solidFill>
                  <a:srgbClr val="12263F"/>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2400" dirty="0"/>
          </a:p>
        </p:txBody>
      </p:sp>
      <p:sp>
        <p:nvSpPr>
          <p:cNvPr id="3" name="Text Placeholder 2"/>
          <p:cNvSpPr>
            <a:spLocks noGrp="1"/>
          </p:cNvSpPr>
          <p:nvPr>
            <p:ph type="body" idx="101"/>
          </p:nvPr>
        </p:nvSpPr>
        <p:spPr>
          <a:xfrm>
            <a:off x="812800" y="1930202"/>
            <a:ext cx="10566400" cy="4114998"/>
          </a:xfrm>
          <a:prstGeom prst="rect">
            <a:avLst/>
          </a:prstGeom>
          <a:noFill/>
          <a:ln/>
        </p:spPr>
        <p:txBody>
          <a:bodyPr wrap="square" lIns="0" tIns="0" rIns="0" bIns="0" rtlCol="0" anchor="t"/>
          <a:lstStyle>
            <a:lvl1pPr marL="0" indent="0" algn="l">
              <a:lnSpc>
                <a:spcPct val="140000"/>
              </a:lnSpc>
              <a:buNone/>
              <a:defRPr lang="en-US" sz="1600" dirty="0">
                <a:solidFill>
                  <a:srgbClr val="12263F"/>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24520"/>
            <a:ext cx="10566400" cy="700881"/>
          </a:xfrm>
          <a:prstGeom prst="rect">
            <a:avLst/>
          </a:prstGeom>
          <a:noFill/>
          <a:ln/>
        </p:spPr>
        <p:txBody>
          <a:bodyPr wrap="square" lIns="0" tIns="0" rIns="0" bIns="0" rtlCol="0" anchor="t"/>
          <a:lstStyle>
            <a:lvl1pPr marL="0" indent="0" algn="l">
              <a:lnSpc>
                <a:spcPct val="115000"/>
              </a:lnSpc>
              <a:buNone/>
              <a:defRPr lang="en-US" sz="2400" dirty="0">
                <a:solidFill>
                  <a:srgbClr val="12263F"/>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2400" dirty="0"/>
          </a:p>
        </p:txBody>
      </p:sp>
      <p:sp>
        <p:nvSpPr>
          <p:cNvPr id="3" name="Text Placeholder 2"/>
          <p:cNvSpPr>
            <a:spLocks noGrp="1"/>
          </p:cNvSpPr>
          <p:nvPr>
            <p:ph type="body" idx="101"/>
          </p:nvPr>
        </p:nvSpPr>
        <p:spPr>
          <a:xfrm>
            <a:off x="812800" y="1930202"/>
            <a:ext cx="10566400" cy="4114998"/>
          </a:xfrm>
          <a:prstGeom prst="rect">
            <a:avLst/>
          </a:prstGeom>
          <a:noFill/>
          <a:ln/>
        </p:spPr>
        <p:txBody>
          <a:bodyPr wrap="square" lIns="0" tIns="0" rIns="0" bIns="0" rtlCol="0" anchor="t"/>
          <a:lstStyle>
            <a:lvl1pPr marL="0" indent="0" algn="l">
              <a:lnSpc>
                <a:spcPct val="140000"/>
              </a:lnSpc>
              <a:buNone/>
              <a:defRPr lang="en-US" sz="1600" dirty="0">
                <a:solidFill>
                  <a:srgbClr val="12263F"/>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F"/>
        </a:solidFill>
        <a:effectLst/>
      </p:bgPr>
    </p:bg>
    <p:spTree>
      <p:nvGrpSpPr>
        <p:cNvPr id="1" name=""/>
        <p:cNvGrpSpPr/>
        <p:nvPr/>
      </p:nvGrpSpPr>
      <p:grpSpPr>
        <a:xfrm>
          <a:off x="0" y="0"/>
          <a:ext cx="0" cy="0"/>
          <a:chOff x="0" y="0"/>
          <a:chExt cx="0" cy="0"/>
        </a:xfrm>
      </p:grpSpPr>
      <p:sp>
        <p:nvSpPr>
          <p:cNvPr id="2" name="Text 0"/>
          <p:cNvSpPr/>
          <p:nvPr/>
        </p:nvSpPr>
        <p:spPr>
          <a:xfrm>
            <a:off x="812800" y="172729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A24A"/>
                </a:solidFill>
                <a:latin typeface="DM Sans" pitchFamily="34" charset="0"/>
                <a:ea typeface="DM Sans" pitchFamily="34" charset="-122"/>
                <a:cs typeface="DM Sans" pitchFamily="34" charset="-120"/>
              </a:rPr>
              <a:t>RADAR DE INVERSIÓN RESIDENCIAL EN ALQUILER</a:t>
            </a:r>
            <a:endParaRPr lang="en-US" sz="1400" dirty="0"/>
          </a:p>
        </p:txBody>
      </p:sp>
      <p:sp>
        <p:nvSpPr>
          <p:cNvPr id="3" name="Text 1"/>
          <p:cNvSpPr>
            <a:spLocks noGrp="1"/>
          </p:cNvSpPr>
          <p:nvPr>
            <p:ph type="title"/>
          </p:nvPr>
        </p:nvSpPr>
        <p:spPr>
          <a:xfrm>
            <a:off x="812800" y="2230140"/>
            <a:ext cx="10883392" cy="136644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6F4EF"/>
                </a:solidFill>
                <a:latin typeface="Libre Baskerville" pitchFamily="18" charset="0"/>
                <a:ea typeface="Libre Baskerville" pitchFamily="18" charset="-122"/>
                <a:cs typeface="Libre Baskerville" pitchFamily="18" charset="-120"/>
              </a:rPr>
              <a:t>Madrid: dónde sube el alquiler y dónde se </a:t>
            </a:r>
            <a:r>
              <a:rPr lang="en-US" sz="4800" b="1" dirty="0" err="1">
                <a:solidFill>
                  <a:srgbClr val="F6F4EF"/>
                </a:solidFill>
                <a:latin typeface="Libre Baskerville" pitchFamily="18" charset="0"/>
                <a:ea typeface="Libre Baskerville" pitchFamily="18" charset="-122"/>
                <a:cs typeface="Libre Baskerville" pitchFamily="18" charset="-120"/>
              </a:rPr>
              <a:t>v</a:t>
            </a:r>
            <a:r>
              <a:rPr lang="en-US" sz="4800" b="1" i="0" dirty="0" err="1">
                <a:solidFill>
                  <a:srgbClr val="F6F4EF"/>
                </a:solidFill>
                <a:latin typeface="Libre Baskerville" pitchFamily="18" charset="0"/>
                <a:ea typeface="Libre Baskerville" pitchFamily="18" charset="-122"/>
                <a:cs typeface="Libre Baskerville" pitchFamily="18" charset="-120"/>
              </a:rPr>
              <a:t>uelve</a:t>
            </a:r>
            <a:r>
              <a:rPr lang="en-US" sz="4800" b="1" i="0" dirty="0">
                <a:solidFill>
                  <a:srgbClr val="F6F4EF"/>
                </a:solidFill>
                <a:latin typeface="Libre Baskerville" pitchFamily="18" charset="0"/>
                <a:ea typeface="Libre Baskerville" pitchFamily="18" charset="-122"/>
                <a:cs typeface="Libre Baskerville" pitchFamily="18" charset="-120"/>
              </a:rPr>
              <a:t> </a:t>
            </a:r>
            <a:r>
              <a:rPr lang="en-US" sz="4800" b="1" i="0" dirty="0" err="1">
                <a:solidFill>
                  <a:srgbClr val="F6F4EF"/>
                </a:solidFill>
                <a:latin typeface="Libre Baskerville" pitchFamily="18" charset="0"/>
                <a:ea typeface="Libre Baskerville" pitchFamily="18" charset="-122"/>
                <a:cs typeface="Libre Baskerville" pitchFamily="18" charset="-120"/>
              </a:rPr>
              <a:t>difícil</a:t>
            </a:r>
            <a:r>
              <a:rPr lang="en-US" sz="4800" b="1" i="0" dirty="0">
                <a:solidFill>
                  <a:srgbClr val="F6F4EF"/>
                </a:solidFill>
                <a:latin typeface="Libre Baskerville" pitchFamily="18" charset="0"/>
                <a:ea typeface="Libre Baskerville" pitchFamily="18" charset="-122"/>
                <a:cs typeface="Libre Baskerville" pitchFamily="18" charset="-120"/>
              </a:rPr>
              <a:t> de </a:t>
            </a:r>
            <a:r>
              <a:rPr lang="en-US" sz="4800" b="1" i="0" dirty="0" err="1">
                <a:solidFill>
                  <a:srgbClr val="F6F4EF"/>
                </a:solidFill>
                <a:latin typeface="Libre Baskerville" pitchFamily="18" charset="0"/>
                <a:ea typeface="Libre Baskerville" pitchFamily="18" charset="-122"/>
                <a:cs typeface="Libre Baskerville" pitchFamily="18" charset="-120"/>
              </a:rPr>
              <a:t>pagar</a:t>
            </a:r>
            <a:endParaRPr lang="en-US" sz="4800" dirty="0"/>
          </a:p>
        </p:txBody>
      </p:sp>
      <p:sp>
        <p:nvSpPr>
          <p:cNvPr id="4" name="Text 2"/>
          <p:cNvSpPr/>
          <p:nvPr/>
        </p:nvSpPr>
        <p:spPr>
          <a:xfrm>
            <a:off x="812800" y="382518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9C4D3"/>
                </a:solidFill>
                <a:latin typeface="DM Sans" pitchFamily="34" charset="0"/>
                <a:ea typeface="DM Sans" pitchFamily="34" charset="-122"/>
                <a:cs typeface="DM Sans" pitchFamily="34" charset="-120"/>
              </a:rPr>
              <a:t>Análisis por sección censal, 2015–2022, con serie de precios hasta 2024</a:t>
            </a:r>
            <a:endParaRPr lang="en-US" sz="1800" dirty="0"/>
          </a:p>
        </p:txBody>
      </p:sp>
      <p:pic>
        <p:nvPicPr>
          <p:cNvPr id="5" name="Image 0" descr="line"/>
          <p:cNvPicPr>
            <a:picLocks noChangeAspect="1"/>
          </p:cNvPicPr>
          <p:nvPr/>
        </p:nvPicPr>
        <p:blipFill>
          <a:blip r:embed="rId3"/>
          <a:srcRect/>
          <a:stretch/>
        </p:blipFill>
        <p:spPr>
          <a:xfrm>
            <a:off x="812800" y="4399161"/>
            <a:ext cx="1524000" cy="25400"/>
          </a:xfrm>
          <a:prstGeom prst="rect">
            <a:avLst/>
          </a:prstGeom>
        </p:spPr>
      </p:pic>
      <p:sp>
        <p:nvSpPr>
          <p:cNvPr id="6" name="Text 3"/>
          <p:cNvSpPr/>
          <p:nvPr/>
        </p:nvSpPr>
        <p:spPr>
          <a:xfrm>
            <a:off x="812800" y="467856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4D3"/>
                </a:solidFill>
                <a:latin typeface="DM Sans" pitchFamily="34" charset="0"/>
                <a:ea typeface="DM Sans" pitchFamily="34" charset="-122"/>
                <a:cs typeface="DM Sans" pitchFamily="34" charset="-120"/>
              </a:rPr>
              <a:t>21 distritos · 2.357 secciones censales · SERPAVI e INE</a:t>
            </a:r>
            <a:endParaRPr lang="en-US" sz="14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4D3"/>
                </a:solidFill>
                <a:latin typeface="DM Sans" pitchFamily="34" charset="0"/>
                <a:ea typeface="DM Sans" pitchFamily="34" charset="-122"/>
                <a:cs typeface="DM Sans" pitchFamily="34" charset="-120"/>
              </a:rPr>
              <a:t>Proyecto final Ironhack · Python y SQL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RESUMEN EJECUTIVO</a:t>
            </a:r>
            <a:endParaRPr lang="en-US" sz="1200" dirty="0"/>
          </a:p>
        </p:txBody>
      </p:sp>
      <p:sp>
        <p:nvSpPr>
          <p:cNvPr id="3" name="Text 1"/>
          <p:cNvSpPr>
            <a:spLocks noGrp="1"/>
          </p:cNvSpPr>
          <p:nvPr>
            <p:ph type="title"/>
          </p:nvPr>
        </p:nvSpPr>
        <p:spPr>
          <a:xfrm>
            <a:off x="812800" y="1229320"/>
            <a:ext cx="10883392" cy="78482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2263F"/>
                </a:solidFill>
                <a:latin typeface="Libre Baskerville" pitchFamily="18" charset="0"/>
                <a:ea typeface="Libre Baskerville" pitchFamily="18" charset="-122"/>
                <a:cs typeface="Libre Baskerville" pitchFamily="18" charset="-120"/>
              </a:rPr>
              <a:t>El alquiler sube más rápido que la renta, pero sin tensión generalizada</a:t>
            </a:r>
            <a:endParaRPr lang="en-US" sz="2600" dirty="0"/>
          </a:p>
        </p:txBody>
      </p:sp>
      <p:sp>
        <p:nvSpPr>
          <p:cNvPr id="4" name="Shape 2"/>
          <p:cNvSpPr/>
          <p:nvPr/>
        </p:nvSpPr>
        <p:spPr>
          <a:xfrm>
            <a:off x="815975" y="2296716"/>
            <a:ext cx="3380284" cy="2273102"/>
          </a:xfrm>
          <a:prstGeom prst="roundRect">
            <a:avLst>
              <a:gd name="adj" fmla="val 4330"/>
            </a:avLst>
          </a:prstGeom>
          <a:solidFill>
            <a:srgbClr val="FFFFFF"/>
          </a:solidFill>
          <a:ln w="6350">
            <a:solidFill>
              <a:srgbClr val="DCD8CC"/>
            </a:solidFill>
            <a:prstDash val="solid"/>
          </a:ln>
        </p:spPr>
      </p:sp>
      <p:sp>
        <p:nvSpPr>
          <p:cNvPr id="5" name="Text 3"/>
          <p:cNvSpPr/>
          <p:nvPr/>
        </p:nvSpPr>
        <p:spPr>
          <a:xfrm>
            <a:off x="1073150" y="2553891"/>
            <a:ext cx="2951912" cy="585391"/>
          </a:xfrm>
          <a:prstGeom prst="rect">
            <a:avLst/>
          </a:prstGeom>
          <a:noFill/>
          <a:ln/>
        </p:spPr>
        <p:txBody>
          <a:bodyPr wrap="square" lIns="0" tIns="0" rIns="0" bIns="0" rtlCol="0" anchor="t">
            <a:noAutofit/>
          </a:bodyPr>
          <a:lstStyle/>
          <a:p>
            <a:pPr marL="0" indent="0" algn="l">
              <a:lnSpc>
                <a:spcPts val="4410"/>
              </a:lnSpc>
              <a:buNone/>
            </a:pPr>
            <a:r>
              <a:rPr lang="en-US" sz="6000" b="1" dirty="0">
                <a:solidFill>
                  <a:srgbClr val="B85F00"/>
                </a:solidFill>
                <a:latin typeface="Libre Baskerville" pitchFamily="18" charset="0"/>
                <a:ea typeface="Libre Baskerville" pitchFamily="18" charset="-122"/>
                <a:cs typeface="Libre Baskerville" pitchFamily="18" charset="-120"/>
              </a:rPr>
              <a:t>3,7 %</a:t>
            </a:r>
            <a:endParaRPr lang="en-US" sz="6000" dirty="0"/>
          </a:p>
        </p:txBody>
      </p:sp>
      <p:sp>
        <p:nvSpPr>
          <p:cNvPr id="6" name="Text 4"/>
          <p:cNvSpPr/>
          <p:nvPr/>
        </p:nvSpPr>
        <p:spPr>
          <a:xfrm>
            <a:off x="1073150" y="3215481"/>
            <a:ext cx="295191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63F"/>
                </a:solidFill>
                <a:latin typeface="DM Sans" pitchFamily="34" charset="0"/>
                <a:ea typeface="DM Sans" pitchFamily="34" charset="-122"/>
                <a:cs typeface="DM Sans" pitchFamily="34" charset="-120"/>
              </a:rPr>
              <a:t>Crecimiento anual mediano del alquiler, 2015–2022</a:t>
            </a:r>
            <a:endParaRPr lang="en-US" sz="1500" dirty="0"/>
          </a:p>
        </p:txBody>
      </p:sp>
      <p:sp>
        <p:nvSpPr>
          <p:cNvPr id="7" name="Text 5"/>
          <p:cNvSpPr/>
          <p:nvPr/>
        </p:nvSpPr>
        <p:spPr>
          <a:xfrm>
            <a:off x="1073150" y="3850481"/>
            <a:ext cx="29519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Frenado desde 2019: 4,4 % antes, 2,7 % después</a:t>
            </a:r>
            <a:endParaRPr lang="en-US" sz="1300" dirty="0"/>
          </a:p>
        </p:txBody>
      </p:sp>
      <p:sp>
        <p:nvSpPr>
          <p:cNvPr id="8" name="Shape 6"/>
          <p:cNvSpPr/>
          <p:nvPr/>
        </p:nvSpPr>
        <p:spPr>
          <a:xfrm>
            <a:off x="4405809" y="2296716"/>
            <a:ext cx="3380383" cy="2273102"/>
          </a:xfrm>
          <a:prstGeom prst="roundRect">
            <a:avLst>
              <a:gd name="adj" fmla="val 4330"/>
            </a:avLst>
          </a:prstGeom>
          <a:solidFill>
            <a:srgbClr val="FFFFFF"/>
          </a:solidFill>
          <a:ln w="6350">
            <a:solidFill>
              <a:srgbClr val="DCD8CC"/>
            </a:solidFill>
            <a:prstDash val="solid"/>
          </a:ln>
        </p:spPr>
      </p:sp>
      <p:sp>
        <p:nvSpPr>
          <p:cNvPr id="9" name="Text 7"/>
          <p:cNvSpPr/>
          <p:nvPr/>
        </p:nvSpPr>
        <p:spPr>
          <a:xfrm>
            <a:off x="4662984" y="2553891"/>
            <a:ext cx="2952014" cy="585391"/>
          </a:xfrm>
          <a:prstGeom prst="rect">
            <a:avLst/>
          </a:prstGeom>
          <a:noFill/>
          <a:ln/>
        </p:spPr>
        <p:txBody>
          <a:bodyPr wrap="square" lIns="0" tIns="0" rIns="0" bIns="0" rtlCol="0" anchor="t">
            <a:noAutofit/>
          </a:bodyPr>
          <a:lstStyle/>
          <a:p>
            <a:pPr marL="0" indent="0" algn="l">
              <a:lnSpc>
                <a:spcPts val="4410"/>
              </a:lnSpc>
              <a:buNone/>
            </a:pPr>
            <a:r>
              <a:rPr lang="en-US" sz="6000" b="1" dirty="0">
                <a:solidFill>
                  <a:srgbClr val="B85F00"/>
                </a:solidFill>
                <a:latin typeface="Libre Baskerville" pitchFamily="18" charset="0"/>
                <a:ea typeface="Libre Baskerville" pitchFamily="18" charset="-122"/>
                <a:cs typeface="Libre Baskerville" pitchFamily="18" charset="-120"/>
              </a:rPr>
              <a:t>+0,9 p.</a:t>
            </a:r>
            <a:endParaRPr lang="en-US" sz="6000" dirty="0"/>
          </a:p>
        </p:txBody>
      </p:sp>
      <p:sp>
        <p:nvSpPr>
          <p:cNvPr id="10" name="Text 8"/>
          <p:cNvSpPr/>
          <p:nvPr/>
        </p:nvSpPr>
        <p:spPr>
          <a:xfrm>
            <a:off x="4662984" y="3215481"/>
            <a:ext cx="295201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63F"/>
                </a:solidFill>
                <a:latin typeface="DM Sans" pitchFamily="34" charset="0"/>
                <a:ea typeface="DM Sans" pitchFamily="34" charset="-122"/>
                <a:cs typeface="DM Sans" pitchFamily="34" charset="-120"/>
              </a:rPr>
              <a:t>Brecha anual entre alquiler y renta del hogar</a:t>
            </a:r>
            <a:endParaRPr lang="en-US" sz="1500" dirty="0"/>
          </a:p>
        </p:txBody>
      </p:sp>
      <p:sp>
        <p:nvSpPr>
          <p:cNvPr id="11" name="Text 9"/>
          <p:cNvSpPr/>
          <p:nvPr/>
        </p:nvSpPr>
        <p:spPr>
          <a:xfrm>
            <a:off x="4662984" y="3850481"/>
            <a:ext cx="29520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Positiva en el 80 % de las secciones</a:t>
            </a:r>
            <a:endParaRPr lang="en-US" sz="1300" dirty="0"/>
          </a:p>
        </p:txBody>
      </p:sp>
      <p:sp>
        <p:nvSpPr>
          <p:cNvPr id="12" name="Shape 10"/>
          <p:cNvSpPr/>
          <p:nvPr/>
        </p:nvSpPr>
        <p:spPr>
          <a:xfrm>
            <a:off x="7995741" y="2292449"/>
            <a:ext cx="3380284" cy="2273102"/>
          </a:xfrm>
          <a:prstGeom prst="roundRect">
            <a:avLst>
              <a:gd name="adj" fmla="val 4330"/>
            </a:avLst>
          </a:prstGeom>
          <a:solidFill>
            <a:srgbClr val="FFFFFF"/>
          </a:solidFill>
          <a:ln w="6350">
            <a:solidFill>
              <a:srgbClr val="DCD8CC"/>
            </a:solidFill>
            <a:prstDash val="solid"/>
          </a:ln>
        </p:spPr>
      </p:sp>
      <p:sp>
        <p:nvSpPr>
          <p:cNvPr id="13" name="Text 11"/>
          <p:cNvSpPr/>
          <p:nvPr/>
        </p:nvSpPr>
        <p:spPr>
          <a:xfrm>
            <a:off x="8252916" y="2553891"/>
            <a:ext cx="2951912" cy="585391"/>
          </a:xfrm>
          <a:prstGeom prst="rect">
            <a:avLst/>
          </a:prstGeom>
          <a:noFill/>
          <a:ln/>
        </p:spPr>
        <p:txBody>
          <a:bodyPr wrap="square" lIns="0" tIns="0" rIns="0" bIns="0" rtlCol="0" anchor="t">
            <a:noAutofit/>
          </a:bodyPr>
          <a:lstStyle/>
          <a:p>
            <a:pPr marL="0" indent="0" algn="l">
              <a:lnSpc>
                <a:spcPts val="4410"/>
              </a:lnSpc>
              <a:buNone/>
            </a:pPr>
            <a:r>
              <a:rPr lang="en-US" sz="6000" b="1" dirty="0">
                <a:solidFill>
                  <a:srgbClr val="B85F00"/>
                </a:solidFill>
                <a:latin typeface="Libre Baskerville" pitchFamily="18" charset="0"/>
                <a:ea typeface="Libre Baskerville" pitchFamily="18" charset="-122"/>
                <a:cs typeface="Libre Baskerville" pitchFamily="18" charset="-120"/>
              </a:rPr>
              <a:t>24 %</a:t>
            </a:r>
            <a:endParaRPr lang="en-US" sz="6000" dirty="0"/>
          </a:p>
        </p:txBody>
      </p:sp>
      <p:sp>
        <p:nvSpPr>
          <p:cNvPr id="14" name="Text 12"/>
          <p:cNvSpPr/>
          <p:nvPr/>
        </p:nvSpPr>
        <p:spPr>
          <a:xfrm>
            <a:off x="8252916" y="3215481"/>
            <a:ext cx="295191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263F"/>
                </a:solidFill>
                <a:latin typeface="DM Sans" pitchFamily="34" charset="0"/>
                <a:ea typeface="DM Sans" pitchFamily="34" charset="-122"/>
                <a:cs typeface="DM Sans" pitchFamily="34" charset="-120"/>
              </a:rPr>
              <a:t>Esfuerzo mediano de alquiler sobre la renta, 2022</a:t>
            </a:r>
            <a:endParaRPr lang="en-US" sz="1500" dirty="0"/>
          </a:p>
        </p:txBody>
      </p:sp>
      <p:sp>
        <p:nvSpPr>
          <p:cNvPr id="15" name="Text 13"/>
          <p:cNvSpPr/>
          <p:nvPr/>
        </p:nvSpPr>
        <p:spPr>
          <a:xfrm>
            <a:off x="8252916" y="3850481"/>
            <a:ext cx="29519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Solo el 3 % de las secciones supera el 30 %</a:t>
            </a:r>
            <a:endParaRPr lang="en-US" sz="1300" dirty="0"/>
          </a:p>
        </p:txBody>
      </p:sp>
      <p:sp>
        <p:nvSpPr>
          <p:cNvPr id="16" name="Text 14"/>
          <p:cNvSpPr/>
          <p:nvPr/>
        </p:nvSpPr>
        <p:spPr>
          <a:xfrm>
            <a:off x="812800" y="4883017"/>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DM Sans" pitchFamily="34" charset="0"/>
                <a:ea typeface="DM Sans" pitchFamily="34" charset="-122"/>
                <a:cs typeface="DM Sans" pitchFamily="34" charset="-120"/>
              </a:rPr>
              <a:t>El riesgo y la oportunidad se concentran en distritos concretos, no en toda la ciudad.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DATOS Y MÉTODO</a:t>
            </a:r>
            <a:endParaRPr lang="en-US" sz="1200" dirty="0"/>
          </a:p>
        </p:txBody>
      </p:sp>
      <p:sp>
        <p:nvSpPr>
          <p:cNvPr id="3" name="Text 1"/>
          <p:cNvSpPr>
            <a:spLocks noGrp="1"/>
          </p:cNvSpPr>
          <p:nvPr>
            <p:ph type="title"/>
          </p:nvPr>
        </p:nvSpPr>
        <p:spPr>
          <a:xfrm>
            <a:off x="812800" y="12293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2263F"/>
                </a:solidFill>
                <a:latin typeface="Libre Baskerville" pitchFamily="18" charset="0"/>
                <a:ea typeface="Libre Baskerville" pitchFamily="18" charset="-122"/>
                <a:cs typeface="Libre Baskerville" pitchFamily="18" charset="-120"/>
              </a:rPr>
              <a:t>Fuentes oficiales, analizadas a escala de sección censal</a:t>
            </a:r>
            <a:endParaRPr lang="en-US" sz="2600" dirty="0"/>
          </a:p>
        </p:txBody>
      </p:sp>
      <p:sp>
        <p:nvSpPr>
          <p:cNvPr id="4" name="Shape 2"/>
          <p:cNvSpPr/>
          <p:nvPr/>
        </p:nvSpPr>
        <p:spPr>
          <a:xfrm>
            <a:off x="815975" y="1917005"/>
            <a:ext cx="2486025" cy="1748532"/>
          </a:xfrm>
          <a:prstGeom prst="roundRect">
            <a:avLst>
              <a:gd name="adj" fmla="val 5629"/>
            </a:avLst>
          </a:prstGeom>
          <a:solidFill>
            <a:srgbClr val="FFFFFF"/>
          </a:solidFill>
          <a:ln w="6350">
            <a:solidFill>
              <a:srgbClr val="DCD8CC"/>
            </a:solidFill>
            <a:prstDash val="solid"/>
          </a:ln>
        </p:spPr>
      </p:sp>
      <p:sp>
        <p:nvSpPr>
          <p:cNvPr id="5" name="Text 3"/>
          <p:cNvSpPr/>
          <p:nvPr/>
        </p:nvSpPr>
        <p:spPr>
          <a:xfrm>
            <a:off x="1047750" y="2148780"/>
            <a:ext cx="208314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63F"/>
                </a:solidFill>
                <a:latin typeface="DM Sans" pitchFamily="34" charset="0"/>
                <a:ea typeface="DM Sans" pitchFamily="34" charset="-122"/>
                <a:cs typeface="DM Sans" pitchFamily="34" charset="-120"/>
              </a:rPr>
              <a:t>SERPAVI</a:t>
            </a:r>
            <a:endParaRPr lang="en-US" sz="1700" dirty="0"/>
          </a:p>
        </p:txBody>
      </p:sp>
      <p:sp>
        <p:nvSpPr>
          <p:cNvPr id="6" name="Text 4"/>
          <p:cNvSpPr/>
          <p:nvPr/>
        </p:nvSpPr>
        <p:spPr>
          <a:xfrm>
            <a:off x="1047750" y="2509441"/>
            <a:ext cx="2083149"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Alquiler mediano en €/m² y por inmueble, vivienda colectiva, 2015–2024</a:t>
            </a:r>
            <a:endParaRPr lang="en-US" sz="1300" dirty="0"/>
          </a:p>
        </p:txBody>
      </p:sp>
      <p:sp>
        <p:nvSpPr>
          <p:cNvPr id="7" name="Shape 5"/>
          <p:cNvSpPr/>
          <p:nvPr/>
        </p:nvSpPr>
        <p:spPr>
          <a:xfrm>
            <a:off x="3511550" y="1917005"/>
            <a:ext cx="2486025" cy="1748532"/>
          </a:xfrm>
          <a:prstGeom prst="roundRect">
            <a:avLst>
              <a:gd name="adj" fmla="val 5629"/>
            </a:avLst>
          </a:prstGeom>
          <a:solidFill>
            <a:srgbClr val="FFFFFF"/>
          </a:solidFill>
          <a:ln w="6350">
            <a:solidFill>
              <a:srgbClr val="DCD8CC"/>
            </a:solidFill>
            <a:prstDash val="solid"/>
          </a:ln>
        </p:spPr>
      </p:sp>
      <p:sp>
        <p:nvSpPr>
          <p:cNvPr id="8" name="Text 6"/>
          <p:cNvSpPr/>
          <p:nvPr/>
        </p:nvSpPr>
        <p:spPr>
          <a:xfrm>
            <a:off x="3743325" y="2148780"/>
            <a:ext cx="208314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63F"/>
                </a:solidFill>
                <a:latin typeface="DM Sans" pitchFamily="34" charset="0"/>
                <a:ea typeface="DM Sans" pitchFamily="34" charset="-122"/>
                <a:cs typeface="DM Sans" pitchFamily="34" charset="-120"/>
              </a:rPr>
              <a:t>INE · Renta</a:t>
            </a:r>
            <a:endParaRPr lang="en-US" sz="1700" dirty="0"/>
          </a:p>
        </p:txBody>
      </p:sp>
      <p:sp>
        <p:nvSpPr>
          <p:cNvPr id="9" name="Text 7"/>
          <p:cNvSpPr/>
          <p:nvPr/>
        </p:nvSpPr>
        <p:spPr>
          <a:xfrm>
            <a:off x="3743325" y="2509441"/>
            <a:ext cx="2083149"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Renta neta media del hogar por sección y distrito, 2015–2022</a:t>
            </a:r>
            <a:endParaRPr lang="en-US" sz="1300" dirty="0"/>
          </a:p>
        </p:txBody>
      </p:sp>
      <p:sp>
        <p:nvSpPr>
          <p:cNvPr id="10" name="Shape 8"/>
          <p:cNvSpPr/>
          <p:nvPr/>
        </p:nvSpPr>
        <p:spPr>
          <a:xfrm>
            <a:off x="6207125" y="1917005"/>
            <a:ext cx="2486025" cy="1748532"/>
          </a:xfrm>
          <a:prstGeom prst="roundRect">
            <a:avLst>
              <a:gd name="adj" fmla="val 5629"/>
            </a:avLst>
          </a:prstGeom>
          <a:solidFill>
            <a:srgbClr val="FFFFFF"/>
          </a:solidFill>
          <a:ln w="6350">
            <a:solidFill>
              <a:srgbClr val="DCD8CC"/>
            </a:solidFill>
            <a:prstDash val="solid"/>
          </a:ln>
        </p:spPr>
      </p:sp>
      <p:sp>
        <p:nvSpPr>
          <p:cNvPr id="11" name="Text 9"/>
          <p:cNvSpPr/>
          <p:nvPr/>
        </p:nvSpPr>
        <p:spPr>
          <a:xfrm>
            <a:off x="6438900" y="2148780"/>
            <a:ext cx="208314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63F"/>
                </a:solidFill>
                <a:latin typeface="DM Sans" pitchFamily="34" charset="0"/>
                <a:ea typeface="DM Sans" pitchFamily="34" charset="-122"/>
                <a:cs typeface="DM Sans" pitchFamily="34" charset="-120"/>
              </a:rPr>
              <a:t>INE · Demografía</a:t>
            </a:r>
            <a:endParaRPr lang="en-US" sz="1700" dirty="0"/>
          </a:p>
        </p:txBody>
      </p:sp>
      <p:sp>
        <p:nvSpPr>
          <p:cNvPr id="12" name="Text 10"/>
          <p:cNvSpPr/>
          <p:nvPr/>
        </p:nvSpPr>
        <p:spPr>
          <a:xfrm>
            <a:off x="6438900" y="2509441"/>
            <a:ext cx="2083149"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Edad media, tamaño del hogar, hogares unipersonales y mayores de 65</a:t>
            </a:r>
            <a:endParaRPr lang="en-US" sz="1300" dirty="0"/>
          </a:p>
        </p:txBody>
      </p:sp>
      <p:sp>
        <p:nvSpPr>
          <p:cNvPr id="13" name="Shape 11"/>
          <p:cNvSpPr/>
          <p:nvPr/>
        </p:nvSpPr>
        <p:spPr>
          <a:xfrm>
            <a:off x="8899525" y="1913830"/>
            <a:ext cx="2479675" cy="1754882"/>
          </a:xfrm>
          <a:prstGeom prst="roundRect">
            <a:avLst>
              <a:gd name="adj" fmla="val 5790"/>
            </a:avLst>
          </a:prstGeom>
          <a:solidFill>
            <a:srgbClr val="12263F"/>
          </a:solidFill>
          <a:ln/>
        </p:spPr>
      </p:sp>
      <p:sp>
        <p:nvSpPr>
          <p:cNvPr id="14" name="Text 12"/>
          <p:cNvSpPr/>
          <p:nvPr/>
        </p:nvSpPr>
        <p:spPr>
          <a:xfrm>
            <a:off x="9128125" y="2142430"/>
            <a:ext cx="208314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6F4EF"/>
                </a:solidFill>
                <a:latin typeface="DM Sans" pitchFamily="34" charset="0"/>
                <a:ea typeface="DM Sans" pitchFamily="34" charset="-122"/>
                <a:cs typeface="DM Sans" pitchFamily="34" charset="-120"/>
              </a:rPr>
              <a:t>Proceso</a:t>
            </a:r>
            <a:endParaRPr lang="en-US" sz="1700" dirty="0"/>
          </a:p>
        </p:txBody>
      </p:sp>
      <p:sp>
        <p:nvSpPr>
          <p:cNvPr id="15" name="Text 13"/>
          <p:cNvSpPr/>
          <p:nvPr/>
        </p:nvSpPr>
        <p:spPr>
          <a:xfrm>
            <a:off x="9128125" y="2503091"/>
            <a:ext cx="2083149"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DE8"/>
                </a:solidFill>
                <a:latin typeface="DM Sans" pitchFamily="34" charset="0"/>
                <a:ea typeface="DM Sans" pitchFamily="34" charset="-122"/>
                <a:cs typeface="DM Sans" pitchFamily="34" charset="-120"/>
              </a:rPr>
              <a:t>Python limpia, MySQL calcula 6 métricas y las gráficas salen de esos resultados</a:t>
            </a:r>
            <a:endParaRPr lang="en-US" sz="1300" dirty="0"/>
          </a:p>
        </p:txBody>
      </p:sp>
      <p:sp>
        <p:nvSpPr>
          <p:cNvPr id="16" name="Text 14"/>
          <p:cNvSpPr/>
          <p:nvPr/>
        </p:nvSpPr>
        <p:spPr>
          <a:xfrm>
            <a:off x="812800" y="3973512"/>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DM Sans" pitchFamily="34" charset="0"/>
                <a:ea typeface="DM Sans" pitchFamily="34" charset="-122"/>
                <a:cs typeface="DM Sans" pitchFamily="34" charset="-120"/>
              </a:rPr>
              <a:t>Unidad base: sección censal (21 distritos, unas 2.400 secciones). Valores nominales, sin imputar datos faltantes.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CRECIMIENTO · 1 DE 4</a:t>
            </a:r>
            <a:endParaRPr lang="en-US" sz="1200" dirty="0"/>
          </a:p>
        </p:txBody>
      </p:sp>
      <p:sp>
        <p:nvSpPr>
          <p:cNvPr id="3" name="Text 1"/>
          <p:cNvSpPr>
            <a:spLocks noGrp="1"/>
          </p:cNvSpPr>
          <p:nvPr>
            <p:ph type="title"/>
          </p:nvPr>
        </p:nvSpPr>
        <p:spPr>
          <a:xfrm>
            <a:off x="812800" y="924520"/>
            <a:ext cx="10883392" cy="72628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2015–2019: auge generalizado, algo más fuerte en las secciones caras</a:t>
            </a:r>
            <a:endParaRPr lang="en-US" sz="2400" dirty="0"/>
          </a:p>
        </p:txBody>
      </p:sp>
      <p:sp>
        <p:nvSpPr>
          <p:cNvPr id="4" name="Shape 2"/>
          <p:cNvSpPr/>
          <p:nvPr/>
        </p:nvSpPr>
        <p:spPr>
          <a:xfrm>
            <a:off x="812800" y="1828602"/>
            <a:ext cx="7874000" cy="4064000"/>
          </a:xfrm>
          <a:prstGeom prst="roundRect">
            <a:avLst>
              <a:gd name="adj" fmla="val 2500"/>
            </a:avLst>
          </a:prstGeom>
          <a:solidFill>
            <a:srgbClr val="FFFFFF"/>
          </a:solidFill>
          <a:ln/>
        </p:spPr>
      </p:sp>
      <p:pic>
        <p:nvPicPr>
          <p:cNvPr id="5" name="Image 0" descr="Crecimiento anual 2015-2019 frente al precio inicial, por sección y por cuartil"/>
          <p:cNvPicPr>
            <a:picLocks noChangeAspect="1"/>
          </p:cNvPicPr>
          <p:nvPr/>
        </p:nvPicPr>
        <p:blipFill>
          <a:blip r:embed="rId3"/>
          <a:stretch>
            <a:fillRect/>
          </a:stretch>
        </p:blipFill>
        <p:spPr>
          <a:xfrm>
            <a:off x="819150" y="2251000"/>
            <a:ext cx="7861300" cy="3219202"/>
          </a:xfrm>
          <a:prstGeom prst="rect">
            <a:avLst/>
          </a:prstGeom>
        </p:spPr>
      </p:pic>
      <p:sp>
        <p:nvSpPr>
          <p:cNvPr id="6" name="Shape 3"/>
          <p:cNvSpPr/>
          <p:nvPr/>
        </p:nvSpPr>
        <p:spPr>
          <a:xfrm>
            <a:off x="815975" y="1831777"/>
            <a:ext cx="7867650" cy="4057650"/>
          </a:xfrm>
          <a:prstGeom prst="roundRect">
            <a:avLst>
              <a:gd name="adj" fmla="val 2426"/>
            </a:avLst>
          </a:prstGeom>
          <a:noFill/>
          <a:ln w="6350">
            <a:solidFill>
              <a:srgbClr val="DCD8CC"/>
            </a:solidFill>
            <a:prstDash val="solid"/>
          </a:ln>
        </p:spPr>
      </p:sp>
      <p:sp>
        <p:nvSpPr>
          <p:cNvPr id="7" name="Text 4"/>
          <p:cNvSpPr/>
          <p:nvPr/>
        </p:nvSpPr>
        <p:spPr>
          <a:xfrm>
            <a:off x="8991600" y="3098006"/>
            <a:ext cx="2459228" cy="425450"/>
          </a:xfrm>
          <a:prstGeom prst="rect">
            <a:avLst/>
          </a:prstGeom>
          <a:noFill/>
          <a:ln/>
        </p:spPr>
        <p:txBody>
          <a:bodyPr wrap="square" lIns="0" tIns="0" rIns="0" bIns="0" rtlCol="0" anchor="t">
            <a:noAutofit/>
          </a:bodyPr>
          <a:lstStyle/>
          <a:p>
            <a:pPr marL="0" indent="0" algn="l">
              <a:lnSpc>
                <a:spcPts val="3150"/>
              </a:lnSpc>
              <a:buNone/>
            </a:pPr>
            <a:r>
              <a:rPr lang="en-US" sz="7200" b="1" dirty="0">
                <a:solidFill>
                  <a:srgbClr val="B85F00"/>
                </a:solidFill>
                <a:latin typeface="Libre Baskerville" pitchFamily="18" charset="0"/>
                <a:ea typeface="Libre Baskerville" pitchFamily="18" charset="-122"/>
                <a:cs typeface="Libre Baskerville" pitchFamily="18" charset="-120"/>
              </a:rPr>
              <a:t>4,4 %</a:t>
            </a:r>
            <a:endParaRPr lang="en-US" sz="7200" dirty="0"/>
          </a:p>
        </p:txBody>
      </p:sp>
      <p:sp>
        <p:nvSpPr>
          <p:cNvPr id="8" name="Text 5"/>
          <p:cNvSpPr/>
          <p:nvPr/>
        </p:nvSpPr>
        <p:spPr>
          <a:xfrm>
            <a:off x="8991600" y="3625056"/>
            <a:ext cx="24592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Crecimiento anual mediano</a:t>
            </a:r>
            <a:endParaRPr lang="en-US" sz="1300" dirty="0"/>
          </a:p>
        </p:txBody>
      </p:sp>
      <p:sp>
        <p:nvSpPr>
          <p:cNvPr id="9" name="Text 6"/>
          <p:cNvSpPr/>
          <p:nvPr/>
        </p:nvSpPr>
        <p:spPr>
          <a:xfrm>
            <a:off x="9090406" y="3983137"/>
            <a:ext cx="2352802" cy="665361"/>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Cuartil más caro: 5,0 % anual</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Cuartil más barato: 4,2 %</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Relación débil (r = 0,19)</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(Ministerio de Vivienda), 2.357 secciones. Tasas nominales.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CRECIMIENTO · 2 DE 4</a:t>
            </a:r>
            <a:endParaRPr lang="en-US" sz="1200" dirty="0"/>
          </a:p>
        </p:txBody>
      </p:sp>
      <p:sp>
        <p:nvSpPr>
          <p:cNvPr id="3" name="Text 1"/>
          <p:cNvSpPr>
            <a:spLocks noGrp="1"/>
          </p:cNvSpPr>
          <p:nvPr>
            <p:ph type="title"/>
          </p:nvPr>
        </p:nvSpPr>
        <p:spPr>
          <a:xfrm>
            <a:off x="812800" y="924520"/>
            <a:ext cx="10883392" cy="72628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2019–2022: el ritmo se frena y el liderazgo pasa a las secciones baratas</a:t>
            </a:r>
            <a:endParaRPr lang="en-US" sz="2400" dirty="0"/>
          </a:p>
        </p:txBody>
      </p:sp>
      <p:sp>
        <p:nvSpPr>
          <p:cNvPr id="4" name="Shape 2"/>
          <p:cNvSpPr/>
          <p:nvPr/>
        </p:nvSpPr>
        <p:spPr>
          <a:xfrm>
            <a:off x="812800" y="1828602"/>
            <a:ext cx="7874000" cy="4064000"/>
          </a:xfrm>
          <a:prstGeom prst="roundRect">
            <a:avLst>
              <a:gd name="adj" fmla="val 2500"/>
            </a:avLst>
          </a:prstGeom>
          <a:solidFill>
            <a:srgbClr val="FFFFFF"/>
          </a:solidFill>
          <a:ln/>
        </p:spPr>
      </p:sp>
      <p:pic>
        <p:nvPicPr>
          <p:cNvPr id="5" name="Image 0" descr="Crecimiento anual 2019-2022 frente al precio inicial, por sección y por cuartil"/>
          <p:cNvPicPr>
            <a:picLocks noChangeAspect="1"/>
          </p:cNvPicPr>
          <p:nvPr/>
        </p:nvPicPr>
        <p:blipFill>
          <a:blip r:embed="rId3"/>
          <a:stretch>
            <a:fillRect/>
          </a:stretch>
        </p:blipFill>
        <p:spPr>
          <a:xfrm>
            <a:off x="819150" y="2251000"/>
            <a:ext cx="7861300" cy="3219202"/>
          </a:xfrm>
          <a:prstGeom prst="rect">
            <a:avLst/>
          </a:prstGeom>
        </p:spPr>
      </p:pic>
      <p:sp>
        <p:nvSpPr>
          <p:cNvPr id="6" name="Shape 3"/>
          <p:cNvSpPr/>
          <p:nvPr/>
        </p:nvSpPr>
        <p:spPr>
          <a:xfrm>
            <a:off x="815975" y="1831777"/>
            <a:ext cx="7867650" cy="4057650"/>
          </a:xfrm>
          <a:prstGeom prst="roundRect">
            <a:avLst>
              <a:gd name="adj" fmla="val 2426"/>
            </a:avLst>
          </a:prstGeom>
          <a:noFill/>
          <a:ln w="6350">
            <a:solidFill>
              <a:srgbClr val="DCD8CC"/>
            </a:solidFill>
            <a:prstDash val="solid"/>
          </a:ln>
        </p:spPr>
      </p:sp>
      <p:sp>
        <p:nvSpPr>
          <p:cNvPr id="7" name="Text 4"/>
          <p:cNvSpPr/>
          <p:nvPr/>
        </p:nvSpPr>
        <p:spPr>
          <a:xfrm>
            <a:off x="8991600" y="2769195"/>
            <a:ext cx="2459228" cy="425450"/>
          </a:xfrm>
          <a:prstGeom prst="rect">
            <a:avLst/>
          </a:prstGeom>
          <a:noFill/>
          <a:ln/>
        </p:spPr>
        <p:txBody>
          <a:bodyPr wrap="square" lIns="0" tIns="0" rIns="0" bIns="0" rtlCol="0" anchor="t">
            <a:noAutofit/>
          </a:bodyPr>
          <a:lstStyle/>
          <a:p>
            <a:pPr marL="0" indent="0" algn="l">
              <a:lnSpc>
                <a:spcPts val="3150"/>
              </a:lnSpc>
              <a:buNone/>
            </a:pPr>
            <a:r>
              <a:rPr lang="en-US" sz="7200" b="1" dirty="0">
                <a:solidFill>
                  <a:srgbClr val="B85F00"/>
                </a:solidFill>
                <a:latin typeface="Libre Baskerville" pitchFamily="18" charset="0"/>
                <a:ea typeface="Libre Baskerville" pitchFamily="18" charset="-122"/>
                <a:cs typeface="Libre Baskerville" pitchFamily="18" charset="-120"/>
              </a:rPr>
              <a:t>2,7 %</a:t>
            </a:r>
            <a:endParaRPr lang="en-US" sz="7200" dirty="0"/>
          </a:p>
        </p:txBody>
      </p:sp>
      <p:sp>
        <p:nvSpPr>
          <p:cNvPr id="8" name="Text 5"/>
          <p:cNvSpPr/>
          <p:nvPr/>
        </p:nvSpPr>
        <p:spPr>
          <a:xfrm>
            <a:off x="8991600" y="3296245"/>
            <a:ext cx="2459228"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Crecimiento anual mediano (antes 4,4 %)</a:t>
            </a:r>
            <a:endParaRPr lang="en-US" sz="1300" dirty="0"/>
          </a:p>
        </p:txBody>
      </p:sp>
      <p:sp>
        <p:nvSpPr>
          <p:cNvPr id="9" name="Text 6"/>
          <p:cNvSpPr/>
          <p:nvPr/>
        </p:nvSpPr>
        <p:spPr>
          <a:xfrm>
            <a:off x="9090406" y="3885406"/>
            <a:ext cx="2352802" cy="109200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Cuartil más barato: 3,3 %; más caro: 2,0 %</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Solo el 1,3 % de las secciones cae</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Relación negativa (r = −0,38)</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(Ministerio de Vivienda), 2.357 secciones. Tasas nominales.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CRECIMIENTO · 3 DE 4</a:t>
            </a:r>
            <a:endParaRPr lang="en-US" sz="1200" dirty="0"/>
          </a:p>
        </p:txBody>
      </p:sp>
      <p:sp>
        <p:nvSpPr>
          <p:cNvPr id="3" name="Text 1"/>
          <p:cNvSpPr>
            <a:spLocks noGrp="1"/>
          </p:cNvSpPr>
          <p:nvPr>
            <p:ph type="title"/>
          </p:nvPr>
        </p:nvSpPr>
        <p:spPr>
          <a:xfrm>
            <a:off x="812800" y="924520"/>
            <a:ext cx="10883392" cy="37584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2015–2022: el precio de partida no predijo el crecimiento total</a:t>
            </a:r>
            <a:endParaRPr lang="en-US" sz="2400" dirty="0"/>
          </a:p>
        </p:txBody>
      </p:sp>
      <p:sp>
        <p:nvSpPr>
          <p:cNvPr id="4" name="Shape 2"/>
          <p:cNvSpPr/>
          <p:nvPr/>
        </p:nvSpPr>
        <p:spPr>
          <a:xfrm>
            <a:off x="812800" y="1478161"/>
            <a:ext cx="7874000" cy="4064000"/>
          </a:xfrm>
          <a:prstGeom prst="roundRect">
            <a:avLst>
              <a:gd name="adj" fmla="val 2500"/>
            </a:avLst>
          </a:prstGeom>
          <a:solidFill>
            <a:srgbClr val="FFFFFF"/>
          </a:solidFill>
          <a:ln/>
        </p:spPr>
      </p:sp>
      <p:pic>
        <p:nvPicPr>
          <p:cNvPr id="5" name="Image 0" descr="Crecimiento anual 2015-2022 frente al precio inicial, por sección y por cuartil"/>
          <p:cNvPicPr>
            <a:picLocks noChangeAspect="1"/>
          </p:cNvPicPr>
          <p:nvPr/>
        </p:nvPicPr>
        <p:blipFill>
          <a:blip r:embed="rId3"/>
          <a:stretch>
            <a:fillRect/>
          </a:stretch>
        </p:blipFill>
        <p:spPr>
          <a:xfrm>
            <a:off x="819150" y="1900560"/>
            <a:ext cx="7861300" cy="3219202"/>
          </a:xfrm>
          <a:prstGeom prst="rect">
            <a:avLst/>
          </a:prstGeom>
        </p:spPr>
      </p:pic>
      <p:sp>
        <p:nvSpPr>
          <p:cNvPr id="6" name="Shape 3"/>
          <p:cNvSpPr/>
          <p:nvPr/>
        </p:nvSpPr>
        <p:spPr>
          <a:xfrm>
            <a:off x="815975" y="1481336"/>
            <a:ext cx="7867650" cy="4057650"/>
          </a:xfrm>
          <a:prstGeom prst="roundRect">
            <a:avLst>
              <a:gd name="adj" fmla="val 2426"/>
            </a:avLst>
          </a:prstGeom>
          <a:noFill/>
          <a:ln w="6350">
            <a:solidFill>
              <a:srgbClr val="DCD8CC"/>
            </a:solidFill>
            <a:prstDash val="solid"/>
          </a:ln>
        </p:spPr>
      </p:sp>
      <p:sp>
        <p:nvSpPr>
          <p:cNvPr id="7" name="Text 4"/>
          <p:cNvSpPr/>
          <p:nvPr/>
        </p:nvSpPr>
        <p:spPr>
          <a:xfrm>
            <a:off x="8991600" y="2427585"/>
            <a:ext cx="2459228" cy="425450"/>
          </a:xfrm>
          <a:prstGeom prst="rect">
            <a:avLst/>
          </a:prstGeom>
          <a:noFill/>
          <a:ln/>
        </p:spPr>
        <p:txBody>
          <a:bodyPr wrap="square" lIns="0" tIns="0" rIns="0" bIns="0" rtlCol="0" anchor="t">
            <a:noAutofit/>
          </a:bodyPr>
          <a:lstStyle/>
          <a:p>
            <a:pPr marL="0" indent="0" algn="l">
              <a:lnSpc>
                <a:spcPts val="3150"/>
              </a:lnSpc>
              <a:buNone/>
            </a:pPr>
            <a:r>
              <a:rPr lang="en-US" sz="7200" b="1" dirty="0">
                <a:solidFill>
                  <a:srgbClr val="B85F00"/>
                </a:solidFill>
                <a:latin typeface="Libre Baskerville" pitchFamily="18" charset="0"/>
                <a:ea typeface="Libre Baskerville" pitchFamily="18" charset="-122"/>
                <a:cs typeface="Libre Baskerville" pitchFamily="18" charset="-120"/>
              </a:rPr>
              <a:t>3,7 %</a:t>
            </a:r>
            <a:endParaRPr lang="en-US" sz="7200" dirty="0"/>
          </a:p>
        </p:txBody>
      </p:sp>
      <p:sp>
        <p:nvSpPr>
          <p:cNvPr id="8" name="Text 5"/>
          <p:cNvSpPr/>
          <p:nvPr/>
        </p:nvSpPr>
        <p:spPr>
          <a:xfrm>
            <a:off x="8991600" y="2954635"/>
            <a:ext cx="245922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Crecimiento anual mediano</a:t>
            </a:r>
            <a:endParaRPr lang="en-US" sz="1300" dirty="0"/>
          </a:p>
        </p:txBody>
      </p:sp>
      <p:sp>
        <p:nvSpPr>
          <p:cNvPr id="9" name="Text 6"/>
          <p:cNvSpPr/>
          <p:nvPr/>
        </p:nvSpPr>
        <p:spPr>
          <a:xfrm>
            <a:off x="9090406" y="3312716"/>
            <a:ext cx="2352802" cy="130532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Los cuatro cuartiles crecen entre 3,7 y 3,8 %</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Lo que ganaron las caras hasta 2019 lo cedieron después</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Relación nula (r = −0,08)</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(Ministerio de Vivienda), 2.357 secciones. Tasas nominales.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CRECIMIENTO · 4 DE 4</a:t>
            </a:r>
            <a:endParaRPr lang="en-US" sz="1200" dirty="0"/>
          </a:p>
        </p:txBody>
      </p:sp>
      <p:sp>
        <p:nvSpPr>
          <p:cNvPr id="3" name="Text 1"/>
          <p:cNvSpPr>
            <a:spLocks noGrp="1"/>
          </p:cNvSpPr>
          <p:nvPr>
            <p:ph type="title"/>
          </p:nvPr>
        </p:nvSpPr>
        <p:spPr>
          <a:xfrm>
            <a:off x="812800" y="924520"/>
            <a:ext cx="10883392" cy="37584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La mediana de crecimiento anual cayó de 4,4 % a 2,7 % tras 2019</a:t>
            </a:r>
            <a:endParaRPr lang="en-US" sz="2400" dirty="0"/>
          </a:p>
        </p:txBody>
      </p:sp>
      <p:sp>
        <p:nvSpPr>
          <p:cNvPr id="4" name="Shape 2"/>
          <p:cNvSpPr/>
          <p:nvPr/>
        </p:nvSpPr>
        <p:spPr>
          <a:xfrm>
            <a:off x="812800" y="1478161"/>
            <a:ext cx="7874000" cy="4064000"/>
          </a:xfrm>
          <a:prstGeom prst="roundRect">
            <a:avLst>
              <a:gd name="adj" fmla="val 2500"/>
            </a:avLst>
          </a:prstGeom>
          <a:solidFill>
            <a:srgbClr val="FFFFFF"/>
          </a:solidFill>
          <a:ln/>
        </p:spPr>
      </p:sp>
      <p:pic>
        <p:nvPicPr>
          <p:cNvPr id="5" name="Image 0" descr="Distribución del crecimiento anual del alquiler por sección en tres periodos"/>
          <p:cNvPicPr>
            <a:picLocks noChangeAspect="1"/>
          </p:cNvPicPr>
          <p:nvPr/>
        </p:nvPicPr>
        <p:blipFill>
          <a:blip r:embed="rId3"/>
          <a:stretch>
            <a:fillRect/>
          </a:stretch>
        </p:blipFill>
        <p:spPr>
          <a:xfrm>
            <a:off x="819150" y="1900560"/>
            <a:ext cx="7861300" cy="3219202"/>
          </a:xfrm>
          <a:prstGeom prst="rect">
            <a:avLst/>
          </a:prstGeom>
        </p:spPr>
      </p:pic>
      <p:sp>
        <p:nvSpPr>
          <p:cNvPr id="6" name="Shape 3"/>
          <p:cNvSpPr/>
          <p:nvPr/>
        </p:nvSpPr>
        <p:spPr>
          <a:xfrm>
            <a:off x="815975" y="1481336"/>
            <a:ext cx="7867650" cy="4057650"/>
          </a:xfrm>
          <a:prstGeom prst="roundRect">
            <a:avLst>
              <a:gd name="adj" fmla="val 2426"/>
            </a:avLst>
          </a:prstGeom>
          <a:noFill/>
          <a:ln w="6350">
            <a:solidFill>
              <a:srgbClr val="DCD8CC"/>
            </a:solidFill>
            <a:prstDash val="solid"/>
          </a:ln>
        </p:spPr>
      </p:sp>
      <p:sp>
        <p:nvSpPr>
          <p:cNvPr id="7" name="Text 4"/>
          <p:cNvSpPr/>
          <p:nvPr/>
        </p:nvSpPr>
        <p:spPr>
          <a:xfrm>
            <a:off x="8991600" y="2409825"/>
            <a:ext cx="2459228" cy="425450"/>
          </a:xfrm>
          <a:prstGeom prst="rect">
            <a:avLst/>
          </a:prstGeom>
          <a:noFill/>
          <a:ln/>
        </p:spPr>
        <p:txBody>
          <a:bodyPr wrap="square" lIns="0" tIns="0" rIns="0" bIns="0" rtlCol="0" anchor="t">
            <a:noAutofit/>
          </a:bodyPr>
          <a:lstStyle/>
          <a:p>
            <a:pPr marL="0" indent="0" algn="l">
              <a:lnSpc>
                <a:spcPts val="3150"/>
              </a:lnSpc>
              <a:buNone/>
            </a:pPr>
            <a:r>
              <a:rPr lang="en-US" sz="7200" b="1" dirty="0">
                <a:solidFill>
                  <a:srgbClr val="B85F00"/>
                </a:solidFill>
                <a:latin typeface="Libre Baskerville" pitchFamily="18" charset="0"/>
                <a:ea typeface="Libre Baskerville" pitchFamily="18" charset="-122"/>
                <a:cs typeface="Libre Baskerville" pitchFamily="18" charset="-120"/>
              </a:rPr>
              <a:t>8,7 %</a:t>
            </a:r>
            <a:endParaRPr lang="en-US" sz="7200" dirty="0"/>
          </a:p>
        </p:txBody>
      </p:sp>
      <p:sp>
        <p:nvSpPr>
          <p:cNvPr id="8" name="Text 5"/>
          <p:cNvSpPr/>
          <p:nvPr/>
        </p:nvSpPr>
        <p:spPr>
          <a:xfrm>
            <a:off x="8991600" y="2936875"/>
            <a:ext cx="2459228"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de las secciones crecen por debajo del 1 % en 2019–2022 (0,4 % antes)</a:t>
            </a:r>
            <a:endParaRPr lang="en-US" sz="1300" dirty="0"/>
          </a:p>
        </p:txBody>
      </p:sp>
      <p:sp>
        <p:nvSpPr>
          <p:cNvPr id="9" name="Text 6"/>
          <p:cNvSpPr/>
          <p:nvPr/>
        </p:nvSpPr>
        <p:spPr>
          <a:xfrm>
            <a:off x="9090406" y="3757116"/>
            <a:ext cx="2352802" cy="878681"/>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La curva se desplaza a la izquierda</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Y se ensancha: más desigualdad entre secciones</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(Ministerio de Vivienda), 2.357 secciones. Tasas nominales.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HETEROGENEIDAD · 1 DE 2</a:t>
            </a:r>
            <a:endParaRPr lang="en-US" sz="1200" dirty="0"/>
          </a:p>
        </p:txBody>
      </p:sp>
      <p:sp>
        <p:nvSpPr>
          <p:cNvPr id="3" name="Text 1"/>
          <p:cNvSpPr>
            <a:spLocks noGrp="1"/>
          </p:cNvSpPr>
          <p:nvPr>
            <p:ph type="title"/>
          </p:nvPr>
        </p:nvSpPr>
        <p:spPr>
          <a:xfrm>
            <a:off x="812800" y="924520"/>
            <a:ext cx="10883392" cy="72628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Centro, Salamanca y Tetuán tienen los mercados internos más heterogéneos</a:t>
            </a:r>
            <a:endParaRPr lang="en-US" sz="2400" dirty="0"/>
          </a:p>
        </p:txBody>
      </p:sp>
      <p:sp>
        <p:nvSpPr>
          <p:cNvPr id="4" name="Shape 2"/>
          <p:cNvSpPr/>
          <p:nvPr/>
        </p:nvSpPr>
        <p:spPr>
          <a:xfrm>
            <a:off x="812800" y="1828602"/>
            <a:ext cx="7874000" cy="4064000"/>
          </a:xfrm>
          <a:prstGeom prst="roundRect">
            <a:avLst>
              <a:gd name="adj" fmla="val 2500"/>
            </a:avLst>
          </a:prstGeom>
          <a:solidFill>
            <a:srgbClr val="FFFFFF"/>
          </a:solidFill>
          <a:ln/>
        </p:spPr>
      </p:sp>
      <p:pic>
        <p:nvPicPr>
          <p:cNvPr id="5" name="Image 0" descr="Dispersión interna del alquiler por distrito en 2022"/>
          <p:cNvPicPr>
            <a:picLocks noChangeAspect="1"/>
          </p:cNvPicPr>
          <p:nvPr/>
        </p:nvPicPr>
        <p:blipFill>
          <a:blip r:embed="rId3"/>
          <a:stretch>
            <a:fillRect/>
          </a:stretch>
        </p:blipFill>
        <p:spPr>
          <a:xfrm>
            <a:off x="819150" y="2199902"/>
            <a:ext cx="7861300" cy="3321399"/>
          </a:xfrm>
          <a:prstGeom prst="rect">
            <a:avLst/>
          </a:prstGeom>
        </p:spPr>
      </p:pic>
      <p:sp>
        <p:nvSpPr>
          <p:cNvPr id="6" name="Shape 3"/>
          <p:cNvSpPr/>
          <p:nvPr/>
        </p:nvSpPr>
        <p:spPr>
          <a:xfrm>
            <a:off x="815975" y="1831777"/>
            <a:ext cx="7867650" cy="4057650"/>
          </a:xfrm>
          <a:prstGeom prst="roundRect">
            <a:avLst>
              <a:gd name="adj" fmla="val 2426"/>
            </a:avLst>
          </a:prstGeom>
          <a:noFill/>
          <a:ln w="6350">
            <a:solidFill>
              <a:srgbClr val="DCD8CC"/>
            </a:solidFill>
            <a:prstDash val="solid"/>
          </a:ln>
        </p:spPr>
      </p:sp>
      <p:sp>
        <p:nvSpPr>
          <p:cNvPr id="8" name="Text 5"/>
          <p:cNvSpPr/>
          <p:nvPr/>
        </p:nvSpPr>
        <p:spPr>
          <a:xfrm>
            <a:off x="8991600" y="3296245"/>
            <a:ext cx="2459228"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Dispersión mediana de la ciudad</a:t>
            </a:r>
            <a:endParaRPr lang="en-US" sz="1300" dirty="0"/>
          </a:p>
        </p:txBody>
      </p:sp>
      <p:sp>
        <p:nvSpPr>
          <p:cNvPr id="9" name="Text 6"/>
          <p:cNvSpPr/>
          <p:nvPr/>
        </p:nvSpPr>
        <p:spPr>
          <a:xfrm>
            <a:off x="9090406" y="3885406"/>
            <a:ext cx="2352802" cy="109200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Más uniformes: Vicálvaro, Fuencarral-El Pardo y Moratalaz</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Mide (P75 − P25) / mediana de cada sección</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(Ministerio de Vivienda), 2.420 secciones, 2022.</a:t>
            </a:r>
            <a:endParaRPr lang="en-US" sz="1200" dirty="0"/>
          </a:p>
        </p:txBody>
      </p:sp>
      <p:sp>
        <p:nvSpPr>
          <p:cNvPr id="11" name="Text 4">
            <a:extLst>
              <a:ext uri="{FF2B5EF4-FFF2-40B4-BE49-F238E27FC236}">
                <a16:creationId xmlns:a16="http://schemas.microsoft.com/office/drawing/2014/main" id="{36A99289-3E42-42A0-B4AF-0BC2EA3F6B7C}"/>
              </a:ext>
            </a:extLst>
          </p:cNvPr>
          <p:cNvSpPr/>
          <p:nvPr/>
        </p:nvSpPr>
        <p:spPr>
          <a:xfrm>
            <a:off x="8991600" y="2602006"/>
            <a:ext cx="3102058" cy="1039626"/>
          </a:xfrm>
          <a:prstGeom prst="rect">
            <a:avLst/>
          </a:prstGeom>
          <a:noFill/>
          <a:ln/>
        </p:spPr>
        <p:txBody>
          <a:bodyPr wrap="square" lIns="0" tIns="0" rIns="0" bIns="0" rtlCol="0" anchor="t">
            <a:noAutofit/>
          </a:bodyPr>
          <a:lstStyle/>
          <a:p>
            <a:pPr marL="0" indent="0" algn="l">
              <a:lnSpc>
                <a:spcPts val="3150"/>
              </a:lnSpc>
              <a:buNone/>
            </a:pPr>
            <a:r>
              <a:rPr lang="en-US" sz="7200" b="1" dirty="0">
                <a:solidFill>
                  <a:srgbClr val="B85F00"/>
                </a:solidFill>
                <a:latin typeface="Libre Baskerville" pitchFamily="18" charset="0"/>
                <a:ea typeface="Libre Baskerville" pitchFamily="18" charset="-122"/>
                <a:cs typeface="Libre Baskerville" pitchFamily="18" charset="-120"/>
              </a:rPr>
              <a:t>32,8 %</a:t>
            </a:r>
            <a:endParaRPr lang="en-US" sz="7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HETEROGENEIDAD · 2 DE 2</a:t>
            </a:r>
            <a:endParaRPr lang="en-US" sz="1200" dirty="0"/>
          </a:p>
        </p:txBody>
      </p:sp>
      <p:sp>
        <p:nvSpPr>
          <p:cNvPr id="3" name="Text 1"/>
          <p:cNvSpPr>
            <a:spLocks noGrp="1"/>
          </p:cNvSpPr>
          <p:nvPr>
            <p:ph type="title"/>
          </p:nvPr>
        </p:nvSpPr>
        <p:spPr>
          <a:xfrm>
            <a:off x="812800" y="924520"/>
            <a:ext cx="10883392" cy="37584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Dentro de un distrito el alquiler varía más que entre distritos</a:t>
            </a:r>
            <a:endParaRPr lang="en-US" sz="2400" dirty="0"/>
          </a:p>
        </p:txBody>
      </p:sp>
      <p:sp>
        <p:nvSpPr>
          <p:cNvPr id="4" name="Shape 2"/>
          <p:cNvSpPr/>
          <p:nvPr/>
        </p:nvSpPr>
        <p:spPr>
          <a:xfrm>
            <a:off x="812800" y="1478161"/>
            <a:ext cx="7874000" cy="4064000"/>
          </a:xfrm>
          <a:prstGeom prst="roundRect">
            <a:avLst>
              <a:gd name="adj" fmla="val 2500"/>
            </a:avLst>
          </a:prstGeom>
          <a:solidFill>
            <a:srgbClr val="FFFFFF"/>
          </a:solidFill>
          <a:ln/>
        </p:spPr>
      </p:sp>
      <p:pic>
        <p:nvPicPr>
          <p:cNvPr id="5" name="Image 0" descr="Rango del alquiler entre secciones de cada distrito en 2022"/>
          <p:cNvPicPr>
            <a:picLocks noChangeAspect="1"/>
          </p:cNvPicPr>
          <p:nvPr/>
        </p:nvPicPr>
        <p:blipFill>
          <a:blip r:embed="rId3"/>
          <a:stretch>
            <a:fillRect/>
          </a:stretch>
        </p:blipFill>
        <p:spPr>
          <a:xfrm>
            <a:off x="819150" y="1849461"/>
            <a:ext cx="7861300" cy="3321399"/>
          </a:xfrm>
          <a:prstGeom prst="rect">
            <a:avLst/>
          </a:prstGeom>
        </p:spPr>
      </p:pic>
      <p:sp>
        <p:nvSpPr>
          <p:cNvPr id="6" name="Shape 3"/>
          <p:cNvSpPr/>
          <p:nvPr/>
        </p:nvSpPr>
        <p:spPr>
          <a:xfrm>
            <a:off x="815975" y="1481336"/>
            <a:ext cx="7867650" cy="4057650"/>
          </a:xfrm>
          <a:prstGeom prst="roundRect">
            <a:avLst>
              <a:gd name="adj" fmla="val 2426"/>
            </a:avLst>
          </a:prstGeom>
          <a:noFill/>
          <a:ln w="6350">
            <a:solidFill>
              <a:srgbClr val="DCD8CC"/>
            </a:solidFill>
            <a:prstDash val="solid"/>
          </a:ln>
        </p:spPr>
      </p:sp>
      <p:sp>
        <p:nvSpPr>
          <p:cNvPr id="7" name="Text 4"/>
          <p:cNvSpPr/>
          <p:nvPr/>
        </p:nvSpPr>
        <p:spPr>
          <a:xfrm>
            <a:off x="8890000" y="2187674"/>
            <a:ext cx="3048000" cy="425450"/>
          </a:xfrm>
          <a:prstGeom prst="rect">
            <a:avLst/>
          </a:prstGeom>
          <a:noFill/>
          <a:ln/>
        </p:spPr>
        <p:txBody>
          <a:bodyPr wrap="square" lIns="0" tIns="0" rIns="0" bIns="0" rtlCol="0" anchor="t">
            <a:noAutofit/>
          </a:bodyPr>
          <a:lstStyle/>
          <a:p>
            <a:pPr marL="0" indent="0" algn="l">
              <a:lnSpc>
                <a:spcPts val="3150"/>
              </a:lnSpc>
              <a:buNone/>
            </a:pPr>
            <a:r>
              <a:rPr lang="en-US" sz="5400" b="1" dirty="0">
                <a:solidFill>
                  <a:srgbClr val="B85F00"/>
                </a:solidFill>
                <a:latin typeface="Libre Baskerville" pitchFamily="18" charset="0"/>
                <a:ea typeface="Libre Baskerville" pitchFamily="18" charset="-122"/>
                <a:cs typeface="Libre Baskerville" pitchFamily="18" charset="-120"/>
              </a:rPr>
              <a:t>13 de 21</a:t>
            </a:r>
            <a:endParaRPr lang="en-US" sz="5400" dirty="0"/>
          </a:p>
        </p:txBody>
      </p:sp>
      <p:sp>
        <p:nvSpPr>
          <p:cNvPr id="8" name="Text 5"/>
          <p:cNvSpPr/>
          <p:nvPr/>
        </p:nvSpPr>
        <p:spPr>
          <a:xfrm>
            <a:off x="8991600" y="2714724"/>
            <a:ext cx="2459228" cy="94972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distritos con un rango interno mayor que la distancia entre el más caro y el más barato</a:t>
            </a:r>
            <a:endParaRPr lang="en-US" sz="1300" dirty="0"/>
          </a:p>
        </p:txBody>
      </p:sp>
      <p:sp>
        <p:nvSpPr>
          <p:cNvPr id="9" name="Text 6"/>
          <p:cNvSpPr/>
          <p:nvPr/>
        </p:nvSpPr>
        <p:spPr>
          <a:xfrm>
            <a:off x="9090406" y="3766046"/>
            <a:ext cx="2352802" cy="109200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Rango medio: 7,9 €/m²</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Mayor rango: Salamanca, 13,4 €/m²</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Invertir por sección, no por distrito</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(Ministerio de Vivienda), 2022. Los extremos dependen de una sola sección.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ASEQUIBILIDAD · 1 DE 2</a:t>
            </a:r>
            <a:endParaRPr lang="en-US" sz="1200" dirty="0"/>
          </a:p>
        </p:txBody>
      </p:sp>
      <p:sp>
        <p:nvSpPr>
          <p:cNvPr id="3" name="Text 1"/>
          <p:cNvSpPr>
            <a:spLocks noGrp="1"/>
          </p:cNvSpPr>
          <p:nvPr>
            <p:ph type="title"/>
          </p:nvPr>
        </p:nvSpPr>
        <p:spPr>
          <a:xfrm>
            <a:off x="812800" y="924520"/>
            <a:ext cx="10883392" cy="72628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Esfuerzo de alquiler moderado en media; Usera, Centro y Puente de Vallecas superan el 25 %</a:t>
            </a:r>
            <a:endParaRPr lang="en-US" sz="2400" dirty="0"/>
          </a:p>
        </p:txBody>
      </p:sp>
      <p:sp>
        <p:nvSpPr>
          <p:cNvPr id="4" name="Shape 2"/>
          <p:cNvSpPr/>
          <p:nvPr/>
        </p:nvSpPr>
        <p:spPr>
          <a:xfrm>
            <a:off x="812800" y="1828602"/>
            <a:ext cx="7874000" cy="4064000"/>
          </a:xfrm>
          <a:prstGeom prst="roundRect">
            <a:avLst>
              <a:gd name="adj" fmla="val 2500"/>
            </a:avLst>
          </a:prstGeom>
          <a:solidFill>
            <a:srgbClr val="FFFFFF"/>
          </a:solidFill>
          <a:ln/>
        </p:spPr>
      </p:sp>
      <p:pic>
        <p:nvPicPr>
          <p:cNvPr id="5" name="Image 0" descr="Esfuerzo de alquiler por distrito en 2022, con umbrales del 25 % y el 30 %"/>
          <p:cNvPicPr>
            <a:picLocks noChangeAspect="1"/>
          </p:cNvPicPr>
          <p:nvPr/>
        </p:nvPicPr>
        <p:blipFill>
          <a:blip r:embed="rId3"/>
          <a:stretch>
            <a:fillRect/>
          </a:stretch>
        </p:blipFill>
        <p:spPr>
          <a:xfrm>
            <a:off x="1708283" y="1834952"/>
            <a:ext cx="6083033" cy="4051300"/>
          </a:xfrm>
          <a:prstGeom prst="rect">
            <a:avLst/>
          </a:prstGeom>
        </p:spPr>
      </p:pic>
      <p:sp>
        <p:nvSpPr>
          <p:cNvPr id="6" name="Shape 3"/>
          <p:cNvSpPr/>
          <p:nvPr/>
        </p:nvSpPr>
        <p:spPr>
          <a:xfrm>
            <a:off x="815975" y="1831777"/>
            <a:ext cx="7867650" cy="4057650"/>
          </a:xfrm>
          <a:prstGeom prst="roundRect">
            <a:avLst>
              <a:gd name="adj" fmla="val 2426"/>
            </a:avLst>
          </a:prstGeom>
          <a:noFill/>
          <a:ln w="6350">
            <a:solidFill>
              <a:srgbClr val="DCD8CC"/>
            </a:solidFill>
            <a:prstDash val="solid"/>
          </a:ln>
        </p:spPr>
      </p:sp>
      <p:sp>
        <p:nvSpPr>
          <p:cNvPr id="7" name="Text 4"/>
          <p:cNvSpPr/>
          <p:nvPr/>
        </p:nvSpPr>
        <p:spPr>
          <a:xfrm>
            <a:off x="8991600" y="2769195"/>
            <a:ext cx="2459228" cy="425450"/>
          </a:xfrm>
          <a:prstGeom prst="rect">
            <a:avLst/>
          </a:prstGeom>
          <a:noFill/>
          <a:ln/>
        </p:spPr>
        <p:txBody>
          <a:bodyPr wrap="square" lIns="0" tIns="0" rIns="0" bIns="0" rtlCol="0" anchor="t">
            <a:noAutofit/>
          </a:bodyPr>
          <a:lstStyle/>
          <a:p>
            <a:pPr marL="0" indent="0" algn="l">
              <a:lnSpc>
                <a:spcPts val="3150"/>
              </a:lnSpc>
              <a:buNone/>
            </a:pPr>
            <a:r>
              <a:rPr lang="en-US" sz="7200" b="1" dirty="0">
                <a:solidFill>
                  <a:srgbClr val="B85F00"/>
                </a:solidFill>
                <a:latin typeface="Libre Baskerville" pitchFamily="18" charset="0"/>
                <a:ea typeface="Libre Baskerville" pitchFamily="18" charset="-122"/>
                <a:cs typeface="Libre Baskerville" pitchFamily="18" charset="-120"/>
              </a:rPr>
              <a:t>24 %</a:t>
            </a:r>
            <a:endParaRPr lang="en-US" sz="7200" dirty="0"/>
          </a:p>
        </p:txBody>
      </p:sp>
      <p:sp>
        <p:nvSpPr>
          <p:cNvPr id="8" name="Text 5"/>
          <p:cNvSpPr/>
          <p:nvPr/>
        </p:nvSpPr>
        <p:spPr>
          <a:xfrm>
            <a:off x="8991600" y="3296245"/>
            <a:ext cx="2459228"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Esfuerzo mediano: alquiler anual sobre renta del hogar</a:t>
            </a:r>
            <a:endParaRPr lang="en-US" sz="1300" dirty="0"/>
          </a:p>
        </p:txBody>
      </p:sp>
      <p:sp>
        <p:nvSpPr>
          <p:cNvPr id="9" name="Text 6"/>
          <p:cNvSpPr/>
          <p:nvPr/>
        </p:nvSpPr>
        <p:spPr>
          <a:xfrm>
            <a:off x="9090406" y="3885406"/>
            <a:ext cx="2352802" cy="109200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38 % de las secciones supera el 25 %</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Solo el 3 % supera el 30 %</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Menor presión: Chamartín (20,5 %) y Barajas (21,0 %)</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e INE (Atlas de Renta), 2.396 secciones, 2022. Renta de todos los hogares, no solo inquilinos.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ASEQUIBILIDAD · 2 DE 2</a:t>
            </a:r>
            <a:endParaRPr lang="en-US" sz="1200" dirty="0"/>
          </a:p>
        </p:txBody>
      </p:sp>
      <p:sp>
        <p:nvSpPr>
          <p:cNvPr id="3" name="Text 1"/>
          <p:cNvSpPr>
            <a:spLocks noGrp="1"/>
          </p:cNvSpPr>
          <p:nvPr>
            <p:ph type="title"/>
          </p:nvPr>
        </p:nvSpPr>
        <p:spPr>
          <a:xfrm>
            <a:off x="812800" y="924520"/>
            <a:ext cx="10883392" cy="37584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El alquiler creció casi un punto al año por encima de la renta</a:t>
            </a:r>
            <a:endParaRPr lang="en-US" sz="2400" dirty="0"/>
          </a:p>
        </p:txBody>
      </p:sp>
      <p:sp>
        <p:nvSpPr>
          <p:cNvPr id="4" name="Shape 2"/>
          <p:cNvSpPr/>
          <p:nvPr/>
        </p:nvSpPr>
        <p:spPr>
          <a:xfrm>
            <a:off x="812800" y="1478161"/>
            <a:ext cx="7874000" cy="4064000"/>
          </a:xfrm>
          <a:prstGeom prst="roundRect">
            <a:avLst>
              <a:gd name="adj" fmla="val 2500"/>
            </a:avLst>
          </a:prstGeom>
          <a:solidFill>
            <a:srgbClr val="FFFFFF"/>
          </a:solidFill>
          <a:ln/>
        </p:spPr>
      </p:sp>
      <p:pic>
        <p:nvPicPr>
          <p:cNvPr id="5" name="Image 0" descr="Brecha de crecimiento anual entre alquiler y renta por distrito, 2015-2022"/>
          <p:cNvPicPr>
            <a:picLocks noChangeAspect="1"/>
          </p:cNvPicPr>
          <p:nvPr/>
        </p:nvPicPr>
        <p:blipFill>
          <a:blip r:embed="rId3"/>
          <a:stretch>
            <a:fillRect/>
          </a:stretch>
        </p:blipFill>
        <p:spPr>
          <a:xfrm>
            <a:off x="1208454" y="1484511"/>
            <a:ext cx="7082692" cy="4051300"/>
          </a:xfrm>
          <a:prstGeom prst="rect">
            <a:avLst/>
          </a:prstGeom>
        </p:spPr>
      </p:pic>
      <p:sp>
        <p:nvSpPr>
          <p:cNvPr id="6" name="Shape 3"/>
          <p:cNvSpPr/>
          <p:nvPr/>
        </p:nvSpPr>
        <p:spPr>
          <a:xfrm>
            <a:off x="815975" y="1481336"/>
            <a:ext cx="7867650" cy="4057650"/>
          </a:xfrm>
          <a:prstGeom prst="roundRect">
            <a:avLst>
              <a:gd name="adj" fmla="val 2426"/>
            </a:avLst>
          </a:prstGeom>
          <a:noFill/>
          <a:ln w="6350">
            <a:solidFill>
              <a:srgbClr val="DCD8CC"/>
            </a:solidFill>
            <a:prstDash val="solid"/>
          </a:ln>
        </p:spPr>
      </p:sp>
      <p:sp>
        <p:nvSpPr>
          <p:cNvPr id="7" name="Text 4"/>
          <p:cNvSpPr/>
          <p:nvPr/>
        </p:nvSpPr>
        <p:spPr>
          <a:xfrm>
            <a:off x="8856133" y="2312095"/>
            <a:ext cx="3589867" cy="425450"/>
          </a:xfrm>
          <a:prstGeom prst="rect">
            <a:avLst/>
          </a:prstGeom>
          <a:noFill/>
          <a:ln/>
        </p:spPr>
        <p:txBody>
          <a:bodyPr wrap="square" lIns="0" tIns="0" rIns="0" bIns="0" rtlCol="0" anchor="t">
            <a:noAutofit/>
          </a:bodyPr>
          <a:lstStyle/>
          <a:p>
            <a:pPr marL="0" indent="0" algn="l">
              <a:lnSpc>
                <a:spcPts val="3150"/>
              </a:lnSpc>
              <a:buNone/>
            </a:pPr>
            <a:r>
              <a:rPr lang="en-US" sz="5400" b="1" dirty="0">
                <a:solidFill>
                  <a:srgbClr val="B85F00"/>
                </a:solidFill>
                <a:latin typeface="Libre Baskerville" pitchFamily="18" charset="0"/>
                <a:ea typeface="Libre Baskerville" pitchFamily="18" charset="-122"/>
                <a:cs typeface="Libre Baskerville" pitchFamily="18" charset="-120"/>
              </a:rPr>
              <a:t>+0,94 p.p.</a:t>
            </a:r>
            <a:endParaRPr lang="en-US" sz="5400" dirty="0"/>
          </a:p>
        </p:txBody>
      </p:sp>
      <p:sp>
        <p:nvSpPr>
          <p:cNvPr id="8" name="Text 5"/>
          <p:cNvSpPr/>
          <p:nvPr/>
        </p:nvSpPr>
        <p:spPr>
          <a:xfrm>
            <a:off x="8991600" y="2839145"/>
            <a:ext cx="2459228"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Brecha anual media entre alquiler y renta</a:t>
            </a:r>
            <a:endParaRPr lang="en-US" sz="1300" dirty="0"/>
          </a:p>
        </p:txBody>
      </p:sp>
      <p:sp>
        <p:nvSpPr>
          <p:cNvPr id="9" name="Text 6"/>
          <p:cNvSpPr/>
          <p:nvPr/>
        </p:nvSpPr>
        <p:spPr>
          <a:xfrm>
            <a:off x="9090406" y="3428305"/>
            <a:ext cx="2352802" cy="130532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Positiva en el 80 % de las secciones</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Mayor: Retiro (+1,41) y Salamanca (+1,35)</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Centro, el único negativo (−0,09)</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e INE, 2.299 secciones, 2015–2022. Tasas nominales; media de secciones por distrito.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DEMANDA · 1 DE 2</a:t>
            </a:r>
            <a:endParaRPr lang="en-US" sz="1200" dirty="0"/>
          </a:p>
        </p:txBody>
      </p:sp>
      <p:sp>
        <p:nvSpPr>
          <p:cNvPr id="3" name="Text 1"/>
          <p:cNvSpPr>
            <a:spLocks noGrp="1"/>
          </p:cNvSpPr>
          <p:nvPr>
            <p:ph type="title"/>
          </p:nvPr>
        </p:nvSpPr>
        <p:spPr>
          <a:xfrm>
            <a:off x="812800" y="924520"/>
            <a:ext cx="10883392" cy="37584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A más hogares unipersonales, alquiler más caro</a:t>
            </a:r>
            <a:endParaRPr lang="en-US" sz="2400" dirty="0"/>
          </a:p>
        </p:txBody>
      </p:sp>
      <p:sp>
        <p:nvSpPr>
          <p:cNvPr id="4" name="Shape 2"/>
          <p:cNvSpPr/>
          <p:nvPr/>
        </p:nvSpPr>
        <p:spPr>
          <a:xfrm>
            <a:off x="812800" y="1478161"/>
            <a:ext cx="7874000" cy="4064000"/>
          </a:xfrm>
          <a:prstGeom prst="roundRect">
            <a:avLst>
              <a:gd name="adj" fmla="val 2500"/>
            </a:avLst>
          </a:prstGeom>
          <a:solidFill>
            <a:srgbClr val="FFFFFF"/>
          </a:solidFill>
          <a:ln/>
        </p:spPr>
      </p:sp>
      <p:pic>
        <p:nvPicPr>
          <p:cNvPr id="5" name="Image 0" descr="Alquiler por m2 frente al porcentaje de hogares unipersonales por sección"/>
          <p:cNvPicPr>
            <a:picLocks noChangeAspect="1"/>
          </p:cNvPicPr>
          <p:nvPr/>
        </p:nvPicPr>
        <p:blipFill>
          <a:blip r:embed="rId3"/>
          <a:stretch>
            <a:fillRect/>
          </a:stretch>
        </p:blipFill>
        <p:spPr>
          <a:xfrm>
            <a:off x="1272289" y="1484511"/>
            <a:ext cx="6955021" cy="4051300"/>
          </a:xfrm>
          <a:prstGeom prst="rect">
            <a:avLst/>
          </a:prstGeom>
        </p:spPr>
      </p:pic>
      <p:sp>
        <p:nvSpPr>
          <p:cNvPr id="6" name="Shape 3"/>
          <p:cNvSpPr/>
          <p:nvPr/>
        </p:nvSpPr>
        <p:spPr>
          <a:xfrm>
            <a:off x="815975" y="1481336"/>
            <a:ext cx="7867650" cy="4057650"/>
          </a:xfrm>
          <a:prstGeom prst="roundRect">
            <a:avLst>
              <a:gd name="adj" fmla="val 2426"/>
            </a:avLst>
          </a:prstGeom>
          <a:noFill/>
          <a:ln w="6350">
            <a:solidFill>
              <a:srgbClr val="DCD8CC"/>
            </a:solidFill>
            <a:prstDash val="solid"/>
          </a:ln>
        </p:spPr>
      </p:sp>
      <p:sp>
        <p:nvSpPr>
          <p:cNvPr id="7" name="Text 4"/>
          <p:cNvSpPr/>
          <p:nvPr/>
        </p:nvSpPr>
        <p:spPr>
          <a:xfrm>
            <a:off x="8991600" y="2383234"/>
            <a:ext cx="3505200" cy="425450"/>
          </a:xfrm>
          <a:prstGeom prst="rect">
            <a:avLst/>
          </a:prstGeom>
          <a:noFill/>
          <a:ln/>
        </p:spPr>
        <p:txBody>
          <a:bodyPr wrap="square" lIns="0" tIns="0" rIns="0" bIns="0" rtlCol="0" anchor="t">
            <a:noAutofit/>
          </a:bodyPr>
          <a:lstStyle/>
          <a:p>
            <a:pPr marL="0" indent="0" algn="l">
              <a:lnSpc>
                <a:spcPts val="3150"/>
              </a:lnSpc>
              <a:buNone/>
            </a:pPr>
            <a:r>
              <a:rPr lang="en-US" sz="6000" b="1" dirty="0">
                <a:solidFill>
                  <a:srgbClr val="B85F00"/>
                </a:solidFill>
                <a:latin typeface="Libre Baskerville" pitchFamily="18" charset="0"/>
                <a:ea typeface="Libre Baskerville" pitchFamily="18" charset="-122"/>
                <a:cs typeface="Libre Baskerville" pitchFamily="18" charset="-120"/>
              </a:rPr>
              <a:t>r = 0,62</a:t>
            </a:r>
            <a:endParaRPr lang="en-US" sz="6000" dirty="0"/>
          </a:p>
        </p:txBody>
      </p:sp>
      <p:sp>
        <p:nvSpPr>
          <p:cNvPr id="8" name="Text 5"/>
          <p:cNvSpPr/>
          <p:nvPr/>
        </p:nvSpPr>
        <p:spPr>
          <a:xfrm>
            <a:off x="8991600" y="2936875"/>
            <a:ext cx="2459228"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Correlación entre % de unipersonales y €/m², 2.396 secciones</a:t>
            </a:r>
            <a:endParaRPr lang="en-US" sz="1300" dirty="0"/>
          </a:p>
        </p:txBody>
      </p:sp>
      <p:sp>
        <p:nvSpPr>
          <p:cNvPr id="9" name="Text 6"/>
          <p:cNvSpPr/>
          <p:nvPr/>
        </p:nvSpPr>
        <p:spPr>
          <a:xfrm>
            <a:off x="9090406" y="3757116"/>
            <a:ext cx="2352802" cy="878681"/>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+0,21 €/m² por cada punto de unipersonales</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Es correlación, no causa: el centro concentra ambos</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e INE (indicadores demográficos), 2022. Tamaño del punto = número de alquileres.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DEMANDA · 2 DE 2</a:t>
            </a:r>
            <a:endParaRPr lang="en-US" sz="1200" dirty="0"/>
          </a:p>
        </p:txBody>
      </p:sp>
      <p:sp>
        <p:nvSpPr>
          <p:cNvPr id="3" name="Text 1"/>
          <p:cNvSpPr>
            <a:spLocks noGrp="1"/>
          </p:cNvSpPr>
          <p:nvPr>
            <p:ph type="title"/>
          </p:nvPr>
        </p:nvSpPr>
        <p:spPr>
          <a:xfrm>
            <a:off x="812800" y="924520"/>
            <a:ext cx="10883392" cy="72628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Con más de 45 % de hogares unipersonales, el alquiler es un 51 % más caro</a:t>
            </a:r>
            <a:endParaRPr lang="en-US" sz="2400" dirty="0"/>
          </a:p>
        </p:txBody>
      </p:sp>
      <p:sp>
        <p:nvSpPr>
          <p:cNvPr id="4" name="Shape 2"/>
          <p:cNvSpPr/>
          <p:nvPr/>
        </p:nvSpPr>
        <p:spPr>
          <a:xfrm>
            <a:off x="812800" y="1828602"/>
            <a:ext cx="7874000" cy="4064000"/>
          </a:xfrm>
          <a:prstGeom prst="roundRect">
            <a:avLst>
              <a:gd name="adj" fmla="val 2500"/>
            </a:avLst>
          </a:prstGeom>
          <a:solidFill>
            <a:srgbClr val="FFFFFF"/>
          </a:solidFill>
          <a:ln/>
        </p:spPr>
      </p:sp>
      <p:pic>
        <p:nvPicPr>
          <p:cNvPr id="5" name="Image 0" descr="Alquiler mediano medio por tramo de peso de hogares unipersonales"/>
          <p:cNvPicPr>
            <a:picLocks noChangeAspect="1"/>
          </p:cNvPicPr>
          <p:nvPr/>
        </p:nvPicPr>
        <p:blipFill>
          <a:blip r:embed="rId3"/>
          <a:stretch>
            <a:fillRect/>
          </a:stretch>
        </p:blipFill>
        <p:spPr>
          <a:xfrm>
            <a:off x="1345346" y="1834952"/>
            <a:ext cx="6808908" cy="4051300"/>
          </a:xfrm>
          <a:prstGeom prst="rect">
            <a:avLst/>
          </a:prstGeom>
        </p:spPr>
      </p:pic>
      <p:sp>
        <p:nvSpPr>
          <p:cNvPr id="6" name="Shape 3"/>
          <p:cNvSpPr/>
          <p:nvPr/>
        </p:nvSpPr>
        <p:spPr>
          <a:xfrm>
            <a:off x="815975" y="1831777"/>
            <a:ext cx="7867650" cy="4057650"/>
          </a:xfrm>
          <a:prstGeom prst="roundRect">
            <a:avLst>
              <a:gd name="adj" fmla="val 2426"/>
            </a:avLst>
          </a:prstGeom>
          <a:noFill/>
          <a:ln w="6350">
            <a:solidFill>
              <a:srgbClr val="DCD8CC"/>
            </a:solidFill>
            <a:prstDash val="solid"/>
          </a:ln>
        </p:spPr>
      </p:sp>
      <p:sp>
        <p:nvSpPr>
          <p:cNvPr id="7" name="Text 4"/>
          <p:cNvSpPr/>
          <p:nvPr/>
        </p:nvSpPr>
        <p:spPr>
          <a:xfrm>
            <a:off x="8754533" y="2728913"/>
            <a:ext cx="3742267" cy="425450"/>
          </a:xfrm>
          <a:prstGeom prst="rect">
            <a:avLst/>
          </a:prstGeom>
          <a:noFill/>
          <a:ln/>
        </p:spPr>
        <p:txBody>
          <a:bodyPr wrap="square" lIns="0" tIns="0" rIns="0" bIns="0" rtlCol="0" anchor="t">
            <a:noAutofit/>
          </a:bodyPr>
          <a:lstStyle/>
          <a:p>
            <a:pPr marL="0" indent="0" algn="l">
              <a:lnSpc>
                <a:spcPts val="3150"/>
              </a:lnSpc>
              <a:buNone/>
            </a:pPr>
            <a:r>
              <a:rPr lang="en-US" sz="6000" b="1" dirty="0">
                <a:solidFill>
                  <a:srgbClr val="B85F00"/>
                </a:solidFill>
                <a:latin typeface="Libre Baskerville" pitchFamily="18" charset="0"/>
                <a:ea typeface="Libre Baskerville" pitchFamily="18" charset="-122"/>
                <a:cs typeface="Libre Baskerville" pitchFamily="18" charset="-120"/>
              </a:rPr>
              <a:t>16,5 €/m²</a:t>
            </a:r>
            <a:endParaRPr lang="en-US" sz="6000" dirty="0"/>
          </a:p>
        </p:txBody>
      </p:sp>
      <p:sp>
        <p:nvSpPr>
          <p:cNvPr id="8" name="Text 5"/>
          <p:cNvSpPr/>
          <p:nvPr/>
        </p:nvSpPr>
        <p:spPr>
          <a:xfrm>
            <a:off x="8991600" y="3287316"/>
            <a:ext cx="2459228"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en secciones de más del 45 % de unipersonales, frente a 10,9 en las de menos del 25 %</a:t>
            </a:r>
            <a:endParaRPr lang="en-US" sz="1300" dirty="0"/>
          </a:p>
        </p:txBody>
      </p:sp>
      <p:sp>
        <p:nvSpPr>
          <p:cNvPr id="9" name="Text 6"/>
          <p:cNvSpPr/>
          <p:nvPr/>
        </p:nvSpPr>
        <p:spPr>
          <a:xfrm>
            <a:off x="9090406" y="4107557"/>
            <a:ext cx="2352802" cy="878681"/>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El salto llega al pasar del 35 %: 14,3 €/m²</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Solo Centro supera el 45 % de media (48,5 %)</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e INE, 2.396 secciones, 2022. Media de secciones por tramo.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EVOLUCIÓN · 1 DE 2</a:t>
            </a:r>
            <a:endParaRPr lang="en-US" sz="1200" dirty="0"/>
          </a:p>
        </p:txBody>
      </p:sp>
      <p:sp>
        <p:nvSpPr>
          <p:cNvPr id="3" name="Text 1"/>
          <p:cNvSpPr>
            <a:spLocks noGrp="1"/>
          </p:cNvSpPr>
          <p:nvPr>
            <p:ph type="title"/>
          </p:nvPr>
        </p:nvSpPr>
        <p:spPr>
          <a:xfrm>
            <a:off x="812800" y="924520"/>
            <a:ext cx="10883392" cy="72628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Todos los distritos suben: de 7,4–12,9 €/m² en 2015 a 10,4–18,6 en 2024</a:t>
            </a:r>
            <a:endParaRPr lang="en-US" sz="2400" dirty="0"/>
          </a:p>
        </p:txBody>
      </p:sp>
      <p:sp>
        <p:nvSpPr>
          <p:cNvPr id="4" name="Shape 2"/>
          <p:cNvSpPr/>
          <p:nvPr/>
        </p:nvSpPr>
        <p:spPr>
          <a:xfrm>
            <a:off x="812800" y="1828602"/>
            <a:ext cx="7874000" cy="4064000"/>
          </a:xfrm>
          <a:prstGeom prst="roundRect">
            <a:avLst>
              <a:gd name="adj" fmla="val 2500"/>
            </a:avLst>
          </a:prstGeom>
          <a:solidFill>
            <a:srgbClr val="FFFFFF"/>
          </a:solidFill>
          <a:ln/>
        </p:spPr>
      </p:sp>
      <p:pic>
        <p:nvPicPr>
          <p:cNvPr id="5" name="Image 0" descr="Serie anual del alquiler ponderado por distrito, 2015-2024"/>
          <p:cNvPicPr>
            <a:picLocks noChangeAspect="1"/>
          </p:cNvPicPr>
          <p:nvPr/>
        </p:nvPicPr>
        <p:blipFill>
          <a:blip r:embed="rId3"/>
          <a:stretch>
            <a:fillRect/>
          </a:stretch>
        </p:blipFill>
        <p:spPr>
          <a:xfrm>
            <a:off x="1272289" y="1834952"/>
            <a:ext cx="6955021" cy="4051300"/>
          </a:xfrm>
          <a:prstGeom prst="rect">
            <a:avLst/>
          </a:prstGeom>
        </p:spPr>
      </p:pic>
      <p:sp>
        <p:nvSpPr>
          <p:cNvPr id="6" name="Shape 3"/>
          <p:cNvSpPr/>
          <p:nvPr/>
        </p:nvSpPr>
        <p:spPr>
          <a:xfrm>
            <a:off x="815975" y="1831777"/>
            <a:ext cx="7867650" cy="4057650"/>
          </a:xfrm>
          <a:prstGeom prst="roundRect">
            <a:avLst>
              <a:gd name="adj" fmla="val 2426"/>
            </a:avLst>
          </a:prstGeom>
          <a:noFill/>
          <a:ln w="6350">
            <a:solidFill>
              <a:srgbClr val="DCD8CC"/>
            </a:solidFill>
            <a:prstDash val="solid"/>
          </a:ln>
        </p:spPr>
      </p:sp>
      <p:sp>
        <p:nvSpPr>
          <p:cNvPr id="7" name="Text 4"/>
          <p:cNvSpPr/>
          <p:nvPr/>
        </p:nvSpPr>
        <p:spPr>
          <a:xfrm>
            <a:off x="8811511" y="2665908"/>
            <a:ext cx="3719156" cy="425450"/>
          </a:xfrm>
          <a:prstGeom prst="rect">
            <a:avLst/>
          </a:prstGeom>
          <a:noFill/>
          <a:ln/>
        </p:spPr>
        <p:txBody>
          <a:bodyPr wrap="square" lIns="0" tIns="0" rIns="0" bIns="0" rtlCol="0" anchor="t">
            <a:noAutofit/>
          </a:bodyPr>
          <a:lstStyle/>
          <a:p>
            <a:pPr marL="0" indent="0" algn="l">
              <a:lnSpc>
                <a:spcPts val="3150"/>
              </a:lnSpc>
              <a:buNone/>
            </a:pPr>
            <a:r>
              <a:rPr lang="en-US" sz="6000" b="1" dirty="0">
                <a:solidFill>
                  <a:srgbClr val="B85F00"/>
                </a:solidFill>
                <a:latin typeface="Libre Baskerville" pitchFamily="18" charset="0"/>
                <a:ea typeface="Libre Baskerville" pitchFamily="18" charset="-122"/>
                <a:cs typeface="Libre Baskerville" pitchFamily="18" charset="-120"/>
              </a:rPr>
              <a:t>18,6 €/m²</a:t>
            </a:r>
            <a:endParaRPr lang="en-US" sz="6000" dirty="0"/>
          </a:p>
        </p:txBody>
      </p:sp>
      <p:sp>
        <p:nvSpPr>
          <p:cNvPr id="8" name="Text 5"/>
          <p:cNvSpPr/>
          <p:nvPr/>
        </p:nvSpPr>
        <p:spPr>
          <a:xfrm>
            <a:off x="8991600" y="3296245"/>
            <a:ext cx="2459228"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Chamberí, el distrito más caro en 2024</a:t>
            </a:r>
            <a:endParaRPr lang="en-US" sz="1300" dirty="0"/>
          </a:p>
        </p:txBody>
      </p:sp>
      <p:sp>
        <p:nvSpPr>
          <p:cNvPr id="9" name="Text 6"/>
          <p:cNvSpPr/>
          <p:nvPr/>
        </p:nvSpPr>
        <p:spPr>
          <a:xfrm>
            <a:off x="9090406" y="3885406"/>
            <a:ext cx="2352802" cy="109200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Villaverde, el más barato: 10,4 €/m²</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Centro se estanca en 2019–2021 y sube un 10 % entre 2022 y 2024</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(Ministerio de Vivienda). Alquiler ponderado por nº de alquileres, vivienda colectiva. Valores nominales.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EVOLUCIÓN · 2 DE 2</a:t>
            </a:r>
            <a:endParaRPr lang="en-US" sz="1200" dirty="0"/>
          </a:p>
        </p:txBody>
      </p:sp>
      <p:sp>
        <p:nvSpPr>
          <p:cNvPr id="3" name="Text 1"/>
          <p:cNvSpPr>
            <a:spLocks noGrp="1"/>
          </p:cNvSpPr>
          <p:nvPr>
            <p:ph type="title"/>
          </p:nvPr>
        </p:nvSpPr>
        <p:spPr>
          <a:xfrm>
            <a:off x="812800" y="924520"/>
            <a:ext cx="10883392" cy="726281"/>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2263F"/>
                </a:solidFill>
                <a:latin typeface="Libre Baskerville" pitchFamily="18" charset="0"/>
                <a:ea typeface="Libre Baskerville" pitchFamily="18" charset="-122"/>
                <a:cs typeface="Libre Baskerville" pitchFamily="18" charset="-120"/>
              </a:rPr>
              <a:t>Salamanca lidera el crecimiento; los distritos caros crecen más rápido</a:t>
            </a:r>
            <a:endParaRPr lang="en-US" sz="2400" dirty="0"/>
          </a:p>
        </p:txBody>
      </p:sp>
      <p:sp>
        <p:nvSpPr>
          <p:cNvPr id="4" name="Shape 2"/>
          <p:cNvSpPr/>
          <p:nvPr/>
        </p:nvSpPr>
        <p:spPr>
          <a:xfrm>
            <a:off x="812800" y="1828602"/>
            <a:ext cx="7874000" cy="4064000"/>
          </a:xfrm>
          <a:prstGeom prst="roundRect">
            <a:avLst>
              <a:gd name="adj" fmla="val 2500"/>
            </a:avLst>
          </a:prstGeom>
          <a:solidFill>
            <a:srgbClr val="FFFFFF"/>
          </a:solidFill>
          <a:ln/>
        </p:spPr>
      </p:sp>
      <p:pic>
        <p:nvPicPr>
          <p:cNvPr id="5" name="Image 0" descr="Crecimiento anual compuesto del alquiler por distrito, 2015-2024"/>
          <p:cNvPicPr>
            <a:picLocks noChangeAspect="1"/>
          </p:cNvPicPr>
          <p:nvPr/>
        </p:nvPicPr>
        <p:blipFill>
          <a:blip r:embed="rId3"/>
          <a:stretch>
            <a:fillRect/>
          </a:stretch>
        </p:blipFill>
        <p:spPr>
          <a:xfrm>
            <a:off x="1799108" y="1834952"/>
            <a:ext cx="5901384" cy="4051300"/>
          </a:xfrm>
          <a:prstGeom prst="rect">
            <a:avLst/>
          </a:prstGeom>
        </p:spPr>
      </p:pic>
      <p:sp>
        <p:nvSpPr>
          <p:cNvPr id="6" name="Shape 3"/>
          <p:cNvSpPr/>
          <p:nvPr/>
        </p:nvSpPr>
        <p:spPr>
          <a:xfrm>
            <a:off x="815975" y="1831777"/>
            <a:ext cx="7867650" cy="4057650"/>
          </a:xfrm>
          <a:prstGeom prst="roundRect">
            <a:avLst>
              <a:gd name="adj" fmla="val 2426"/>
            </a:avLst>
          </a:prstGeom>
          <a:noFill/>
          <a:ln w="6350">
            <a:solidFill>
              <a:srgbClr val="DCD8CC"/>
            </a:solidFill>
            <a:prstDash val="solid"/>
          </a:ln>
        </p:spPr>
      </p:sp>
      <p:sp>
        <p:nvSpPr>
          <p:cNvPr id="7" name="Text 4"/>
          <p:cNvSpPr/>
          <p:nvPr/>
        </p:nvSpPr>
        <p:spPr>
          <a:xfrm>
            <a:off x="8991600" y="2769195"/>
            <a:ext cx="2459228" cy="425450"/>
          </a:xfrm>
          <a:prstGeom prst="rect">
            <a:avLst/>
          </a:prstGeom>
          <a:noFill/>
          <a:ln/>
        </p:spPr>
        <p:txBody>
          <a:bodyPr wrap="square" lIns="0" tIns="0" rIns="0" bIns="0" rtlCol="0" anchor="t">
            <a:noAutofit/>
          </a:bodyPr>
          <a:lstStyle/>
          <a:p>
            <a:pPr marL="0" indent="0" algn="l">
              <a:lnSpc>
                <a:spcPts val="3150"/>
              </a:lnSpc>
              <a:buNone/>
            </a:pPr>
            <a:r>
              <a:rPr lang="en-US" sz="7200" b="1" dirty="0">
                <a:solidFill>
                  <a:srgbClr val="B85F00"/>
                </a:solidFill>
                <a:latin typeface="Libre Baskerville" pitchFamily="18" charset="0"/>
                <a:ea typeface="Libre Baskerville" pitchFamily="18" charset="-122"/>
                <a:cs typeface="Libre Baskerville" pitchFamily="18" charset="-120"/>
              </a:rPr>
              <a:t>4,5 %</a:t>
            </a:r>
            <a:endParaRPr lang="en-US" sz="7200" dirty="0"/>
          </a:p>
        </p:txBody>
      </p:sp>
      <p:sp>
        <p:nvSpPr>
          <p:cNvPr id="8" name="Text 5"/>
          <p:cNvSpPr/>
          <p:nvPr/>
        </p:nvSpPr>
        <p:spPr>
          <a:xfrm>
            <a:off x="8991600" y="3296245"/>
            <a:ext cx="2459228"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63F"/>
                </a:solidFill>
                <a:latin typeface="DM Sans" pitchFamily="34" charset="0"/>
                <a:ea typeface="DM Sans" pitchFamily="34" charset="-122"/>
                <a:cs typeface="DM Sans" pitchFamily="34" charset="-120"/>
              </a:rPr>
              <a:t>Crecimiento anual de Salamanca, 2015–2024</a:t>
            </a:r>
            <a:endParaRPr lang="en-US" sz="1300" dirty="0"/>
          </a:p>
        </p:txBody>
      </p:sp>
      <p:sp>
        <p:nvSpPr>
          <p:cNvPr id="9" name="Text 6"/>
          <p:cNvSpPr/>
          <p:nvPr/>
        </p:nvSpPr>
        <p:spPr>
          <a:xfrm>
            <a:off x="9090406" y="3885406"/>
            <a:ext cx="2352802" cy="109200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Chamberí y Retiro: 4,2 %</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Barajas, Villa de Vallecas y Hortaleza: 3,4–3,5 %</a:t>
            </a:r>
            <a:endParaRPr lang="en-US" sz="1200" dirty="0"/>
          </a:p>
          <a:p>
            <a:pPr marL="155194" indent="-155194" algn="l">
              <a:lnSpc>
                <a:spcPts val="1680"/>
              </a:lnSpc>
              <a:buSzPct val="100000"/>
              <a:buChar char="•"/>
            </a:pPr>
            <a:r>
              <a:rPr lang="en-US" sz="1200" dirty="0">
                <a:solidFill>
                  <a:srgbClr val="3D4A5C"/>
                </a:solidFill>
                <a:latin typeface="DM Sans" pitchFamily="34" charset="0"/>
                <a:ea typeface="DM Sans" pitchFamily="34" charset="-122"/>
                <a:cs typeface="DM Sans" pitchFamily="34" charset="-120"/>
              </a:rPr>
              <a:t>La distancia entre distritos caros y baratos se ensancha</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DM Sans" pitchFamily="34" charset="0"/>
                <a:ea typeface="DM Sans" pitchFamily="34" charset="-122"/>
                <a:cs typeface="DM Sans" pitchFamily="34" charset="-120"/>
              </a:rPr>
              <a:t>Fuente: SERPAVI (Ministerio de Vivienda). Alquiler ponderado €/m². Tasas nominales.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63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24A"/>
                </a:solidFill>
                <a:latin typeface="DM Sans" pitchFamily="34" charset="0"/>
                <a:ea typeface="DM Sans" pitchFamily="34" charset="-122"/>
                <a:cs typeface="DM Sans" pitchFamily="34" charset="-120"/>
              </a:rPr>
              <a:t>CONCLUSIONES</a:t>
            </a:r>
            <a:endParaRPr lang="en-US" sz="1200" dirty="0"/>
          </a:p>
        </p:txBody>
      </p:sp>
      <p:sp>
        <p:nvSpPr>
          <p:cNvPr id="3" name="Text 1"/>
          <p:cNvSpPr>
            <a:spLocks noGrp="1"/>
          </p:cNvSpPr>
          <p:nvPr>
            <p:ph type="title"/>
          </p:nvPr>
        </p:nvSpPr>
        <p:spPr>
          <a:xfrm>
            <a:off x="812800" y="12293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F6F4EF"/>
                </a:solidFill>
                <a:latin typeface="Libre Baskerville" pitchFamily="18" charset="0"/>
                <a:ea typeface="Libre Baskerville" pitchFamily="18" charset="-122"/>
                <a:cs typeface="Libre Baskerville" pitchFamily="18" charset="-120"/>
              </a:rPr>
              <a:t>Qué significa para un inversor</a:t>
            </a:r>
            <a:endParaRPr lang="en-US" sz="2600" dirty="0"/>
          </a:p>
        </p:txBody>
      </p:sp>
      <p:sp>
        <p:nvSpPr>
          <p:cNvPr id="4" name="Shape 2"/>
          <p:cNvSpPr/>
          <p:nvPr/>
        </p:nvSpPr>
        <p:spPr>
          <a:xfrm>
            <a:off x="812800" y="1913830"/>
            <a:ext cx="3386634" cy="2006600"/>
          </a:xfrm>
          <a:prstGeom prst="roundRect">
            <a:avLst>
              <a:gd name="adj" fmla="val 5063"/>
            </a:avLst>
          </a:prstGeom>
          <a:solidFill>
            <a:srgbClr val="1B3656"/>
          </a:solidFill>
          <a:ln/>
        </p:spPr>
      </p:sp>
      <p:sp>
        <p:nvSpPr>
          <p:cNvPr id="5" name="Text 3"/>
          <p:cNvSpPr/>
          <p:nvPr/>
        </p:nvSpPr>
        <p:spPr>
          <a:xfrm>
            <a:off x="1066800" y="2167830"/>
            <a:ext cx="29649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0A24A"/>
                </a:solidFill>
                <a:latin typeface="DM Sans" pitchFamily="34" charset="0"/>
                <a:ea typeface="DM Sans" pitchFamily="34" charset="-122"/>
                <a:cs typeface="DM Sans" pitchFamily="34" charset="-120"/>
              </a:rPr>
              <a:t>1. El alquiler sube</a:t>
            </a:r>
            <a:endParaRPr lang="en-US" sz="2000" dirty="0"/>
          </a:p>
        </p:txBody>
      </p:sp>
      <p:sp>
        <p:nvSpPr>
          <p:cNvPr id="6" name="Text 4"/>
          <p:cNvSpPr/>
          <p:nvPr/>
        </p:nvSpPr>
        <p:spPr>
          <a:xfrm>
            <a:off x="1066799" y="2794727"/>
            <a:ext cx="296499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6EBF2"/>
                </a:solidFill>
                <a:latin typeface="DM Sans" pitchFamily="34" charset="0"/>
                <a:ea typeface="DM Sans" pitchFamily="34" charset="-122"/>
                <a:cs typeface="DM Sans" pitchFamily="34" charset="-120"/>
              </a:rPr>
              <a:t>Cada año sube un </a:t>
            </a:r>
            <a:r>
              <a:rPr lang="en-US" sz="2800" b="1" dirty="0">
                <a:solidFill>
                  <a:srgbClr val="F0A24A"/>
                </a:solidFill>
                <a:latin typeface="DM Sans" pitchFamily="34" charset="0"/>
                <a:ea typeface="DM Sans" pitchFamily="34" charset="-122"/>
              </a:rPr>
              <a:t>3,7 %. </a:t>
            </a:r>
            <a:r>
              <a:rPr lang="en-US" sz="1500" dirty="0" err="1">
                <a:solidFill>
                  <a:srgbClr val="E6EBF2"/>
                </a:solidFill>
                <a:latin typeface="DM Sans" pitchFamily="34" charset="0"/>
                <a:ea typeface="DM Sans" pitchFamily="34" charset="-122"/>
                <a:cs typeface="DM Sans" pitchFamily="34" charset="-120"/>
              </a:rPr>
              <a:t>Desde</a:t>
            </a:r>
            <a:r>
              <a:rPr lang="en-US" sz="1500" dirty="0">
                <a:solidFill>
                  <a:srgbClr val="E6EBF2"/>
                </a:solidFill>
                <a:latin typeface="DM Sans" pitchFamily="34" charset="0"/>
                <a:ea typeface="DM Sans" pitchFamily="34" charset="-122"/>
                <a:cs typeface="DM Sans" pitchFamily="34" charset="-120"/>
              </a:rPr>
              <a:t> 2019 sube más despacio, pero casi nunca baja.</a:t>
            </a:r>
            <a:endParaRPr lang="en-US" sz="1500" dirty="0"/>
          </a:p>
        </p:txBody>
      </p:sp>
      <p:sp>
        <p:nvSpPr>
          <p:cNvPr id="7" name="Shape 5"/>
          <p:cNvSpPr/>
          <p:nvPr/>
        </p:nvSpPr>
        <p:spPr>
          <a:xfrm>
            <a:off x="4402634" y="1913830"/>
            <a:ext cx="3386733" cy="2006600"/>
          </a:xfrm>
          <a:prstGeom prst="roundRect">
            <a:avLst>
              <a:gd name="adj" fmla="val 5063"/>
            </a:avLst>
          </a:prstGeom>
          <a:solidFill>
            <a:srgbClr val="1B3656"/>
          </a:solidFill>
          <a:ln/>
        </p:spPr>
      </p:sp>
      <p:sp>
        <p:nvSpPr>
          <p:cNvPr id="8" name="Text 6"/>
          <p:cNvSpPr/>
          <p:nvPr/>
        </p:nvSpPr>
        <p:spPr>
          <a:xfrm>
            <a:off x="4656634" y="2167830"/>
            <a:ext cx="296509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0A24A"/>
                </a:solidFill>
                <a:latin typeface="DM Sans" pitchFamily="34" charset="0"/>
                <a:ea typeface="DM Sans" pitchFamily="34" charset="-122"/>
                <a:cs typeface="DM Sans" pitchFamily="34" charset="-120"/>
              </a:rPr>
              <a:t>2. Aún es asumible</a:t>
            </a:r>
            <a:endParaRPr lang="en-US" sz="2000" dirty="0"/>
          </a:p>
        </p:txBody>
      </p:sp>
      <p:sp>
        <p:nvSpPr>
          <p:cNvPr id="9" name="Text 7"/>
          <p:cNvSpPr/>
          <p:nvPr/>
        </p:nvSpPr>
        <p:spPr>
          <a:xfrm>
            <a:off x="4444966" y="2760497"/>
            <a:ext cx="3344401" cy="1193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6EBF2"/>
                </a:solidFill>
                <a:latin typeface="DM Sans" pitchFamily="34" charset="0"/>
                <a:ea typeface="DM Sans" pitchFamily="34" charset="-122"/>
                <a:cs typeface="DM Sans" pitchFamily="34" charset="-120"/>
              </a:rPr>
              <a:t>Un hogar medio destina </a:t>
            </a:r>
            <a:r>
              <a:rPr lang="en-US" sz="1500" dirty="0" err="1">
                <a:solidFill>
                  <a:srgbClr val="E6EBF2"/>
                </a:solidFill>
                <a:latin typeface="DM Sans" pitchFamily="34" charset="0"/>
                <a:ea typeface="DM Sans" pitchFamily="34" charset="-122"/>
                <a:cs typeface="DM Sans" pitchFamily="34" charset="-120"/>
              </a:rPr>
              <a:t>el</a:t>
            </a:r>
            <a:r>
              <a:rPr lang="en-US" sz="1500" dirty="0">
                <a:solidFill>
                  <a:srgbClr val="E6EBF2"/>
                </a:solidFill>
                <a:latin typeface="DM Sans" pitchFamily="34" charset="0"/>
                <a:ea typeface="DM Sans" pitchFamily="34" charset="-122"/>
                <a:cs typeface="DM Sans" pitchFamily="34" charset="-120"/>
              </a:rPr>
              <a:t> </a:t>
            </a:r>
            <a:r>
              <a:rPr lang="en-US" sz="2800" b="1" dirty="0">
                <a:solidFill>
                  <a:srgbClr val="F0A24A"/>
                </a:solidFill>
                <a:latin typeface="DM Sans" pitchFamily="34" charset="0"/>
                <a:ea typeface="DM Sans" pitchFamily="34" charset="-122"/>
              </a:rPr>
              <a:t>24 %</a:t>
            </a:r>
            <a:r>
              <a:rPr lang="en-US" sz="2800" b="1" dirty="0">
                <a:solidFill>
                  <a:srgbClr val="E6EBF2"/>
                </a:solidFill>
                <a:latin typeface="DM Sans" pitchFamily="34" charset="0"/>
                <a:ea typeface="DM Sans" pitchFamily="34" charset="-122"/>
                <a:cs typeface="DM Sans" pitchFamily="34" charset="-120"/>
              </a:rPr>
              <a:t> </a:t>
            </a:r>
            <a:r>
              <a:rPr lang="en-US" sz="1500" dirty="0">
                <a:solidFill>
                  <a:srgbClr val="E6EBF2"/>
                </a:solidFill>
                <a:latin typeface="DM Sans" pitchFamily="34" charset="0"/>
                <a:ea typeface="DM Sans" pitchFamily="34" charset="-122"/>
                <a:cs typeface="DM Sans" pitchFamily="34" charset="-120"/>
              </a:rPr>
              <a:t>de sus ingresos. Solo Usera, Centro y Puente de Vallecas pasan del 25 %.</a:t>
            </a:r>
            <a:endParaRPr lang="en-US" sz="1500" dirty="0"/>
          </a:p>
        </p:txBody>
      </p:sp>
      <p:sp>
        <p:nvSpPr>
          <p:cNvPr id="10" name="Shape 8"/>
          <p:cNvSpPr/>
          <p:nvPr/>
        </p:nvSpPr>
        <p:spPr>
          <a:xfrm>
            <a:off x="7992566" y="1913830"/>
            <a:ext cx="3386634" cy="2006600"/>
          </a:xfrm>
          <a:prstGeom prst="roundRect">
            <a:avLst>
              <a:gd name="adj" fmla="val 5063"/>
            </a:avLst>
          </a:prstGeom>
          <a:solidFill>
            <a:srgbClr val="1B3656"/>
          </a:solidFill>
          <a:ln/>
        </p:spPr>
      </p:sp>
      <p:sp>
        <p:nvSpPr>
          <p:cNvPr id="11" name="Text 9"/>
          <p:cNvSpPr/>
          <p:nvPr/>
        </p:nvSpPr>
        <p:spPr>
          <a:xfrm>
            <a:off x="8246566" y="2167830"/>
            <a:ext cx="29649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0A24A"/>
                </a:solidFill>
                <a:latin typeface="DM Sans" pitchFamily="34" charset="0"/>
                <a:ea typeface="DM Sans" pitchFamily="34" charset="-122"/>
                <a:cs typeface="DM Sans" pitchFamily="34" charset="-120"/>
              </a:rPr>
              <a:t>3. Elegir bien la zona</a:t>
            </a:r>
            <a:endParaRPr lang="en-US" sz="2000" dirty="0"/>
          </a:p>
        </p:txBody>
      </p:sp>
      <p:sp>
        <p:nvSpPr>
          <p:cNvPr id="12" name="Text 10"/>
          <p:cNvSpPr/>
          <p:nvPr/>
        </p:nvSpPr>
        <p:spPr>
          <a:xfrm>
            <a:off x="8246566" y="2777430"/>
            <a:ext cx="296499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6EBF2"/>
                </a:solidFill>
                <a:latin typeface="DM Sans" pitchFamily="34" charset="0"/>
                <a:ea typeface="DM Sans" pitchFamily="34" charset="-122"/>
                <a:cs typeface="DM Sans" pitchFamily="34" charset="-120"/>
              </a:rPr>
              <a:t>El </a:t>
            </a:r>
            <a:r>
              <a:rPr lang="en-US" sz="1500" dirty="0" err="1">
                <a:solidFill>
                  <a:srgbClr val="E6EBF2"/>
                </a:solidFill>
                <a:latin typeface="DM Sans" pitchFamily="34" charset="0"/>
                <a:ea typeface="DM Sans" pitchFamily="34" charset="-122"/>
                <a:cs typeface="DM Sans" pitchFamily="34" charset="-120"/>
              </a:rPr>
              <a:t>precio</a:t>
            </a:r>
            <a:r>
              <a:rPr lang="en-US" sz="1500" dirty="0">
                <a:solidFill>
                  <a:srgbClr val="E6EBF2"/>
                </a:solidFill>
                <a:latin typeface="DM Sans" pitchFamily="34" charset="0"/>
                <a:ea typeface="DM Sans" pitchFamily="34" charset="-122"/>
                <a:cs typeface="DM Sans" pitchFamily="34" charset="-120"/>
              </a:rPr>
              <a:t> de 2022 no dice cuánto subirá. Hay que </a:t>
            </a:r>
            <a:r>
              <a:rPr lang="en-US" sz="1500" dirty="0" err="1">
                <a:solidFill>
                  <a:srgbClr val="E6EBF2"/>
                </a:solidFill>
                <a:latin typeface="DM Sans" pitchFamily="34" charset="0"/>
                <a:ea typeface="DM Sans" pitchFamily="34" charset="-122"/>
                <a:cs typeface="DM Sans" pitchFamily="34" charset="-120"/>
              </a:rPr>
              <a:t>mirar</a:t>
            </a:r>
            <a:r>
              <a:rPr lang="en-US" sz="1500" dirty="0">
                <a:solidFill>
                  <a:srgbClr val="E6EBF2"/>
                </a:solidFill>
                <a:latin typeface="DM Sans" pitchFamily="34" charset="0"/>
                <a:ea typeface="DM Sans" pitchFamily="34" charset="-122"/>
                <a:cs typeface="DM Sans" pitchFamily="34" charset="-120"/>
              </a:rPr>
              <a:t> por </a:t>
            </a:r>
            <a:r>
              <a:rPr lang="en-US" sz="1500" dirty="0" err="1">
                <a:solidFill>
                  <a:srgbClr val="E6EBF2"/>
                </a:solidFill>
                <a:latin typeface="DM Sans" pitchFamily="34" charset="0"/>
                <a:ea typeface="DM Sans" pitchFamily="34" charset="-122"/>
                <a:cs typeface="DM Sans" pitchFamily="34" charset="-120"/>
              </a:rPr>
              <a:t>seccion</a:t>
            </a:r>
            <a:r>
              <a:rPr lang="en-US" sz="1500" dirty="0">
                <a:solidFill>
                  <a:srgbClr val="E6EBF2"/>
                </a:solidFill>
                <a:latin typeface="DM Sans" pitchFamily="34" charset="0"/>
                <a:ea typeface="DM Sans" pitchFamily="34" charset="-122"/>
                <a:cs typeface="DM Sans" pitchFamily="34" charset="-120"/>
              </a:rPr>
              <a:t>, no solo el distrito.</a:t>
            </a:r>
            <a:endParaRPr lang="en-US" sz="1500" dirty="0"/>
          </a:p>
        </p:txBody>
      </p:sp>
      <p:sp>
        <p:nvSpPr>
          <p:cNvPr id="13" name="Text 11"/>
          <p:cNvSpPr/>
          <p:nvPr/>
        </p:nvSpPr>
        <p:spPr>
          <a:xfrm>
            <a:off x="812800" y="4225230"/>
            <a:ext cx="10883392" cy="333970"/>
          </a:xfrm>
          <a:prstGeom prst="rect">
            <a:avLst/>
          </a:prstGeom>
          <a:noFill/>
          <a:ln/>
        </p:spPr>
        <p:txBody>
          <a:bodyPr wrap="square" lIns="0" tIns="0" rIns="0" bIns="0" rtlCol="0" anchor="t">
            <a:normAutofit/>
          </a:bodyPr>
          <a:lstStyle/>
          <a:p>
            <a:pPr marL="0" indent="0" algn="l">
              <a:lnSpc>
                <a:spcPts val="2430"/>
              </a:lnSpc>
              <a:buNone/>
            </a:pPr>
            <a:r>
              <a:rPr lang="en-US" sz="1800" b="1" dirty="0">
                <a:solidFill>
                  <a:srgbClr val="F6F4EF"/>
                </a:solidFill>
                <a:latin typeface="DM Sans" pitchFamily="34" charset="0"/>
                <a:ea typeface="DM Sans" pitchFamily="34" charset="-122"/>
                <a:cs typeface="DM Sans" pitchFamily="34" charset="-120"/>
              </a:rPr>
              <a:t>En resumen: Madrid sube, pero no está al límite. La oportunidad está en elegir bien dónde.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F00"/>
                </a:solidFill>
                <a:latin typeface="DM Sans" pitchFamily="34" charset="0"/>
                <a:ea typeface="DM Sans" pitchFamily="34" charset="-122"/>
                <a:cs typeface="DM Sans" pitchFamily="34" charset="-120"/>
              </a:rPr>
              <a:t>LIMITACIONES Y PRÓXIMOS PASOS</a:t>
            </a:r>
            <a:endParaRPr lang="en-US" sz="1200" dirty="0"/>
          </a:p>
        </p:txBody>
      </p:sp>
      <p:sp>
        <p:nvSpPr>
          <p:cNvPr id="3" name="Text 1"/>
          <p:cNvSpPr>
            <a:spLocks noGrp="1"/>
          </p:cNvSpPr>
          <p:nvPr>
            <p:ph type="title"/>
          </p:nvPr>
        </p:nvSpPr>
        <p:spPr>
          <a:xfrm>
            <a:off x="812800" y="12293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2263F"/>
                </a:solidFill>
                <a:latin typeface="Libre Baskerville" pitchFamily="18" charset="0"/>
                <a:ea typeface="Libre Baskerville" pitchFamily="18" charset="-122"/>
                <a:cs typeface="Libre Baskerville" pitchFamily="18" charset="-120"/>
              </a:rPr>
              <a:t>Qué dicen los datos y qué no</a:t>
            </a:r>
            <a:endParaRPr lang="en-US" sz="2600" dirty="0"/>
          </a:p>
        </p:txBody>
      </p:sp>
      <p:sp>
        <p:nvSpPr>
          <p:cNvPr id="4" name="Shape 2"/>
          <p:cNvSpPr/>
          <p:nvPr/>
        </p:nvSpPr>
        <p:spPr>
          <a:xfrm>
            <a:off x="691197" y="1917005"/>
            <a:ext cx="5181600" cy="2071588"/>
          </a:xfrm>
          <a:prstGeom prst="roundRect">
            <a:avLst>
              <a:gd name="adj" fmla="val 4751"/>
            </a:avLst>
          </a:prstGeom>
          <a:solidFill>
            <a:srgbClr val="FFFFFF"/>
          </a:solidFill>
          <a:ln w="6350">
            <a:solidFill>
              <a:srgbClr val="DCD8CC"/>
            </a:solidFill>
            <a:prstDash val="solid"/>
          </a:ln>
        </p:spPr>
      </p:sp>
      <p:sp>
        <p:nvSpPr>
          <p:cNvPr id="5" name="Text 3"/>
          <p:cNvSpPr/>
          <p:nvPr/>
        </p:nvSpPr>
        <p:spPr>
          <a:xfrm>
            <a:off x="1073150" y="2174180"/>
            <a:ext cx="480726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263F"/>
                </a:solidFill>
                <a:latin typeface="DM Sans" pitchFamily="34" charset="0"/>
                <a:ea typeface="DM Sans" pitchFamily="34" charset="-122"/>
                <a:cs typeface="DM Sans" pitchFamily="34" charset="-120"/>
              </a:rPr>
              <a:t>Limitaciones</a:t>
            </a:r>
            <a:endParaRPr lang="en-US" sz="1700" dirty="0"/>
          </a:p>
        </p:txBody>
      </p:sp>
      <p:sp>
        <p:nvSpPr>
          <p:cNvPr id="6" name="Text 4"/>
          <p:cNvSpPr/>
          <p:nvPr/>
        </p:nvSpPr>
        <p:spPr>
          <a:xfrm>
            <a:off x="1164844" y="2534841"/>
            <a:ext cx="4707953" cy="1221978"/>
          </a:xfrm>
          <a:prstGeom prst="rect">
            <a:avLst/>
          </a:prstGeom>
          <a:noFill/>
          <a:ln/>
        </p:spPr>
        <p:txBody>
          <a:bodyPr wrap="square" lIns="0" tIns="0" rIns="0" bIns="0" rtlCol="0" anchor="t">
            <a:normAutofit/>
          </a:bodyPr>
          <a:lstStyle/>
          <a:p>
            <a:pPr marL="162306" indent="-162306" algn="l">
              <a:lnSpc>
                <a:spcPts val="1885"/>
              </a:lnSpc>
              <a:buSzPct val="100000"/>
              <a:buChar char="•"/>
            </a:pPr>
            <a:r>
              <a:rPr lang="en-US" sz="1300" dirty="0">
                <a:solidFill>
                  <a:srgbClr val="3D4A5C"/>
                </a:solidFill>
                <a:latin typeface="DM Sans" pitchFamily="34" charset="0"/>
                <a:ea typeface="DM Sans" pitchFamily="34" charset="-122"/>
                <a:cs typeface="DM Sans" pitchFamily="34" charset="-120"/>
              </a:rPr>
              <a:t>Tasas nominales, sin </a:t>
            </a:r>
            <a:r>
              <a:rPr lang="en-US" sz="1300" dirty="0" err="1">
                <a:solidFill>
                  <a:srgbClr val="3D4A5C"/>
                </a:solidFill>
                <a:latin typeface="DM Sans" pitchFamily="34" charset="0"/>
                <a:ea typeface="DM Sans" pitchFamily="34" charset="-122"/>
                <a:cs typeface="DM Sans" pitchFamily="34" charset="-120"/>
              </a:rPr>
              <a:t>deflactar</a:t>
            </a:r>
            <a:r>
              <a:rPr lang="en-US" sz="1300" dirty="0">
                <a:solidFill>
                  <a:srgbClr val="3D4A5C"/>
                </a:solidFill>
                <a:latin typeface="DM Sans" pitchFamily="34" charset="0"/>
                <a:ea typeface="DM Sans" pitchFamily="34" charset="-122"/>
                <a:cs typeface="DM Sans" pitchFamily="34" charset="-120"/>
              </a:rPr>
              <a:t> (</a:t>
            </a:r>
            <a:r>
              <a:rPr lang="en-US" sz="1300" dirty="0" err="1">
                <a:solidFill>
                  <a:srgbClr val="3D4A5C"/>
                </a:solidFill>
                <a:latin typeface="DM Sans" pitchFamily="34" charset="0"/>
                <a:ea typeface="DM Sans" pitchFamily="34" charset="-122"/>
                <a:cs typeface="DM Sans" pitchFamily="34" charset="-120"/>
              </a:rPr>
              <a:t>efento</a:t>
            </a:r>
            <a:r>
              <a:rPr lang="en-US" sz="1300" dirty="0">
                <a:solidFill>
                  <a:srgbClr val="3D4A5C"/>
                </a:solidFill>
                <a:latin typeface="DM Sans" pitchFamily="34" charset="0"/>
                <a:ea typeface="DM Sans" pitchFamily="34" charset="-122"/>
                <a:cs typeface="DM Sans" pitchFamily="34" charset="-120"/>
              </a:rPr>
              <a:t> de la </a:t>
            </a:r>
            <a:r>
              <a:rPr lang="en-US" sz="1300" dirty="0" err="1">
                <a:solidFill>
                  <a:srgbClr val="3D4A5C"/>
                </a:solidFill>
                <a:latin typeface="DM Sans" pitchFamily="34" charset="0"/>
                <a:ea typeface="DM Sans" pitchFamily="34" charset="-122"/>
                <a:cs typeface="DM Sans" pitchFamily="34" charset="-120"/>
              </a:rPr>
              <a:t>inflacion</a:t>
            </a:r>
            <a:r>
              <a:rPr lang="en-US" sz="1300" dirty="0">
                <a:solidFill>
                  <a:srgbClr val="3D4A5C"/>
                </a:solidFill>
                <a:latin typeface="DM Sans" pitchFamily="34" charset="0"/>
                <a:ea typeface="DM Sans" pitchFamily="34" charset="-122"/>
                <a:cs typeface="DM Sans" pitchFamily="34" charset="-120"/>
              </a:rPr>
              <a:t>)</a:t>
            </a:r>
            <a:endParaRPr lang="en-US" sz="1300" dirty="0"/>
          </a:p>
          <a:p>
            <a:pPr marL="162306" indent="-162306" algn="l">
              <a:lnSpc>
                <a:spcPts val="1885"/>
              </a:lnSpc>
              <a:buSzPct val="100000"/>
              <a:buChar char="•"/>
            </a:pPr>
            <a:r>
              <a:rPr lang="en-US" sz="1300" dirty="0">
                <a:solidFill>
                  <a:srgbClr val="3D4A5C"/>
                </a:solidFill>
                <a:latin typeface="DM Sans" pitchFamily="34" charset="0"/>
                <a:ea typeface="DM Sans" pitchFamily="34" charset="-122"/>
                <a:cs typeface="DM Sans" pitchFamily="34" charset="-120"/>
              </a:rPr>
              <a:t>Sin precios de venta: no hay rentabilidad bruta</a:t>
            </a:r>
            <a:endParaRPr lang="en-US" sz="1300" dirty="0"/>
          </a:p>
          <a:p>
            <a:pPr marL="162306" indent="-162306" algn="l">
              <a:lnSpc>
                <a:spcPts val="1885"/>
              </a:lnSpc>
              <a:buSzPct val="100000"/>
              <a:buChar char="•"/>
            </a:pPr>
            <a:r>
              <a:rPr lang="en-US" sz="1300" dirty="0">
                <a:solidFill>
                  <a:srgbClr val="3D4A5C"/>
                </a:solidFill>
                <a:latin typeface="DM Sans" pitchFamily="34" charset="0"/>
                <a:ea typeface="DM Sans" pitchFamily="34" charset="-122"/>
                <a:cs typeface="DM Sans" pitchFamily="34" charset="-120"/>
              </a:rPr>
              <a:t>SERPAVI: solo </a:t>
            </a:r>
            <a:r>
              <a:rPr lang="en-US" sz="1300" dirty="0" err="1">
                <a:solidFill>
                  <a:srgbClr val="3D4A5C"/>
                </a:solidFill>
                <a:latin typeface="DM Sans" pitchFamily="34" charset="0"/>
                <a:ea typeface="DM Sans" pitchFamily="34" charset="-122"/>
                <a:cs typeface="DM Sans" pitchFamily="34" charset="-120"/>
              </a:rPr>
              <a:t>vivienda</a:t>
            </a:r>
            <a:r>
              <a:rPr lang="en-US" sz="1300" dirty="0">
                <a:solidFill>
                  <a:srgbClr val="3D4A5C"/>
                </a:solidFill>
                <a:latin typeface="DM Sans" pitchFamily="34" charset="0"/>
                <a:ea typeface="DM Sans" pitchFamily="34" charset="-122"/>
                <a:cs typeface="DM Sans" pitchFamily="34" charset="-120"/>
              </a:rPr>
              <a:t> </a:t>
            </a:r>
            <a:r>
              <a:rPr lang="en-US" sz="1300" dirty="0" err="1">
                <a:solidFill>
                  <a:srgbClr val="3D4A5C"/>
                </a:solidFill>
                <a:latin typeface="DM Sans" pitchFamily="34" charset="0"/>
                <a:ea typeface="DM Sans" pitchFamily="34" charset="-122"/>
                <a:cs typeface="DM Sans" pitchFamily="34" charset="-120"/>
              </a:rPr>
              <a:t>colectiva</a:t>
            </a:r>
            <a:endParaRPr lang="en-US" sz="1300" dirty="0"/>
          </a:p>
          <a:p>
            <a:pPr marL="162306" indent="-162306" algn="l">
              <a:lnSpc>
                <a:spcPts val="1885"/>
              </a:lnSpc>
              <a:buSzPct val="100000"/>
              <a:buChar char="•"/>
            </a:pPr>
            <a:r>
              <a:rPr lang="en-US" sz="1300" dirty="0">
                <a:solidFill>
                  <a:srgbClr val="3D4A5C"/>
                </a:solidFill>
                <a:latin typeface="DM Sans" pitchFamily="34" charset="0"/>
                <a:ea typeface="DM Sans" pitchFamily="34" charset="-122"/>
                <a:cs typeface="DM Sans" pitchFamily="34" charset="-120"/>
              </a:rPr>
              <a:t>Renta de todos los hogares, no solo inquilinos</a:t>
            </a:r>
            <a:endParaRPr lang="en-US" sz="1300" dirty="0"/>
          </a:p>
          <a:p>
            <a:pPr marL="162306" indent="-162306" algn="l">
              <a:lnSpc>
                <a:spcPts val="1885"/>
              </a:lnSpc>
              <a:buSzPct val="100000"/>
              <a:buChar char="•"/>
            </a:pPr>
            <a:r>
              <a:rPr lang="en-US" sz="1300" dirty="0">
                <a:solidFill>
                  <a:srgbClr val="3D4A5C"/>
                </a:solidFill>
                <a:latin typeface="DM Sans" pitchFamily="34" charset="0"/>
                <a:ea typeface="DM Sans" pitchFamily="34" charset="-122"/>
                <a:cs typeface="DM Sans" pitchFamily="34" charset="-120"/>
              </a:rPr>
              <a:t>Datos faltantes (1,4–2,2 %) sin imputar</a:t>
            </a:r>
            <a:endParaRPr lang="en-US" sz="1300" dirty="0"/>
          </a:p>
        </p:txBody>
      </p:sp>
      <p:sp>
        <p:nvSpPr>
          <p:cNvPr id="7" name="Shape 5"/>
          <p:cNvSpPr/>
          <p:nvPr/>
        </p:nvSpPr>
        <p:spPr>
          <a:xfrm>
            <a:off x="6203950" y="1913830"/>
            <a:ext cx="5175250" cy="2077938"/>
          </a:xfrm>
          <a:prstGeom prst="roundRect">
            <a:avLst>
              <a:gd name="adj" fmla="val 4889"/>
            </a:avLst>
          </a:prstGeom>
          <a:solidFill>
            <a:srgbClr val="12263F"/>
          </a:solidFill>
          <a:ln/>
        </p:spPr>
      </p:sp>
      <p:sp>
        <p:nvSpPr>
          <p:cNvPr id="8" name="Text 6"/>
          <p:cNvSpPr/>
          <p:nvPr/>
        </p:nvSpPr>
        <p:spPr>
          <a:xfrm>
            <a:off x="6457950" y="2167830"/>
            <a:ext cx="480726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0A24A"/>
                </a:solidFill>
                <a:latin typeface="DM Sans" pitchFamily="34" charset="0"/>
                <a:ea typeface="DM Sans" pitchFamily="34" charset="-122"/>
                <a:cs typeface="DM Sans" pitchFamily="34" charset="-120"/>
              </a:rPr>
              <a:t>Próximos pasos</a:t>
            </a:r>
            <a:endParaRPr lang="en-US" sz="1700" dirty="0"/>
          </a:p>
        </p:txBody>
      </p:sp>
      <p:sp>
        <p:nvSpPr>
          <p:cNvPr id="9" name="Text 7"/>
          <p:cNvSpPr/>
          <p:nvPr/>
        </p:nvSpPr>
        <p:spPr>
          <a:xfrm>
            <a:off x="6549644" y="2528491"/>
            <a:ext cx="4707953" cy="982662"/>
          </a:xfrm>
          <a:prstGeom prst="rect">
            <a:avLst/>
          </a:prstGeom>
          <a:noFill/>
          <a:ln/>
        </p:spPr>
        <p:txBody>
          <a:bodyPr wrap="square" lIns="0" tIns="0" rIns="0" bIns="0" rtlCol="0" anchor="t">
            <a:normAutofit/>
          </a:bodyPr>
          <a:lstStyle/>
          <a:p>
            <a:pPr marL="162306" indent="-162306" algn="l">
              <a:lnSpc>
                <a:spcPts val="1885"/>
              </a:lnSpc>
              <a:buSzPct val="100000"/>
              <a:buChar char="•"/>
            </a:pPr>
            <a:r>
              <a:rPr lang="en-US" sz="1300" dirty="0">
                <a:solidFill>
                  <a:srgbClr val="E6EBF2"/>
                </a:solidFill>
                <a:latin typeface="DM Sans" pitchFamily="34" charset="0"/>
                <a:ea typeface="DM Sans" pitchFamily="34" charset="-122"/>
                <a:cs typeface="DM Sans" pitchFamily="34" charset="-120"/>
              </a:rPr>
              <a:t>Añadir precios de compraventa para calcular rentabilidad</a:t>
            </a:r>
            <a:endParaRPr lang="en-US" sz="1300" dirty="0"/>
          </a:p>
          <a:p>
            <a:pPr marL="162306" indent="-162306" algn="l">
              <a:lnSpc>
                <a:spcPts val="1885"/>
              </a:lnSpc>
              <a:buSzPct val="100000"/>
              <a:buChar char="•"/>
            </a:pPr>
            <a:r>
              <a:rPr lang="en-US" sz="1300" dirty="0">
                <a:solidFill>
                  <a:srgbClr val="E6EBF2"/>
                </a:solidFill>
                <a:latin typeface="DM Sans" pitchFamily="34" charset="0"/>
                <a:ea typeface="DM Sans" pitchFamily="34" charset="-122"/>
                <a:cs typeface="DM Sans" pitchFamily="34" charset="-120"/>
              </a:rPr>
              <a:t>Deflactar con el IPC</a:t>
            </a:r>
            <a:endParaRPr lang="en-US" sz="1300" dirty="0"/>
          </a:p>
          <a:p>
            <a:pPr marL="162306" indent="-162306" algn="l">
              <a:lnSpc>
                <a:spcPts val="1885"/>
              </a:lnSpc>
              <a:buSzPct val="100000"/>
              <a:buChar char="•"/>
            </a:pPr>
            <a:r>
              <a:rPr lang="en-US" sz="1300" dirty="0" err="1">
                <a:solidFill>
                  <a:srgbClr val="E6EBF2"/>
                </a:solidFill>
                <a:latin typeface="DM Sans" pitchFamily="34" charset="0"/>
                <a:ea typeface="DM Sans" pitchFamily="34" charset="-122"/>
                <a:cs typeface="DM Sans" pitchFamily="34" charset="-120"/>
              </a:rPr>
              <a:t>Obtener</a:t>
            </a:r>
            <a:r>
              <a:rPr lang="en-US" sz="1300" dirty="0">
                <a:solidFill>
                  <a:srgbClr val="E6EBF2"/>
                </a:solidFill>
                <a:latin typeface="DM Sans" pitchFamily="34" charset="0"/>
                <a:ea typeface="DM Sans" pitchFamily="34" charset="-122"/>
                <a:cs typeface="DM Sans" pitchFamily="34" charset="-120"/>
              </a:rPr>
              <a:t> </a:t>
            </a:r>
            <a:r>
              <a:rPr lang="en-US" sz="1300" dirty="0" err="1">
                <a:solidFill>
                  <a:srgbClr val="E6EBF2"/>
                </a:solidFill>
                <a:latin typeface="DM Sans" pitchFamily="34" charset="0"/>
                <a:ea typeface="DM Sans" pitchFamily="34" charset="-122"/>
                <a:cs typeface="DM Sans" pitchFamily="34" charset="-120"/>
              </a:rPr>
              <a:t>datos</a:t>
            </a:r>
            <a:r>
              <a:rPr lang="en-US" sz="1300" dirty="0">
                <a:solidFill>
                  <a:srgbClr val="E6EBF2"/>
                </a:solidFill>
                <a:latin typeface="DM Sans" pitchFamily="34" charset="0"/>
                <a:ea typeface="DM Sans" pitchFamily="34" charset="-122"/>
                <a:cs typeface="DM Sans" pitchFamily="34" charset="-120"/>
              </a:rPr>
              <a:t> hasta 2025, para </a:t>
            </a:r>
            <a:r>
              <a:rPr lang="en-US" sz="1300" dirty="0" err="1">
                <a:solidFill>
                  <a:srgbClr val="E6EBF2"/>
                </a:solidFill>
                <a:latin typeface="DM Sans" pitchFamily="34" charset="0"/>
                <a:ea typeface="DM Sans" pitchFamily="34" charset="-122"/>
                <a:cs typeface="DM Sans" pitchFamily="34" charset="-120"/>
              </a:rPr>
              <a:t>generar</a:t>
            </a:r>
            <a:r>
              <a:rPr lang="en-US" sz="1300" dirty="0">
                <a:solidFill>
                  <a:srgbClr val="E6EBF2"/>
                </a:solidFill>
                <a:latin typeface="DM Sans" pitchFamily="34" charset="0"/>
                <a:ea typeface="DM Sans" pitchFamily="34" charset="-122"/>
                <a:cs typeface="DM Sans" pitchFamily="34" charset="-120"/>
              </a:rPr>
              <a:t> una </a:t>
            </a:r>
            <a:r>
              <a:rPr lang="en-US" sz="1300" dirty="0" err="1">
                <a:solidFill>
                  <a:srgbClr val="E6EBF2"/>
                </a:solidFill>
                <a:latin typeface="DM Sans" pitchFamily="34" charset="0"/>
                <a:ea typeface="DM Sans" pitchFamily="34" charset="-122"/>
                <a:cs typeface="DM Sans" pitchFamily="34" charset="-120"/>
              </a:rPr>
              <a:t>tendencia</a:t>
            </a:r>
            <a:endParaRPr lang="en-US" sz="1300" dirty="0"/>
          </a:p>
          <a:p>
            <a:pPr marL="162306" indent="-162306" algn="l">
              <a:lnSpc>
                <a:spcPts val="1885"/>
              </a:lnSpc>
              <a:buSzPct val="100000"/>
              <a:buChar char="•"/>
            </a:pPr>
            <a:r>
              <a:rPr lang="en-US" sz="1300" dirty="0">
                <a:solidFill>
                  <a:srgbClr val="E6EBF2"/>
                </a:solidFill>
                <a:latin typeface="DM Sans" pitchFamily="34" charset="0"/>
                <a:ea typeface="DM Sans" pitchFamily="34" charset="-122"/>
                <a:cs typeface="DM Sans" pitchFamily="34" charset="-120"/>
              </a:rPr>
              <a:t>Extender el método a otras ciudades</a:t>
            </a:r>
            <a:endParaRPr lang="en-US" sz="1300" dirty="0"/>
          </a:p>
        </p:txBody>
      </p:sp>
    </p:spTree>
  </p:cSld>
  <p:clrMapOvr>
    <a:masterClrMapping/>
  </p:clrMapOvr>
</p:sld>
</file>

<file path=ppt/theme/theme1.xml><?xml version="1.0" encoding="utf-8"?>
<a:theme xmlns:a="http://schemas.openxmlformats.org/drawingml/2006/main" name="Radar de inversión residencial en alquiler, Madrid">
  <a:themeElements>
    <a:clrScheme name="Radar de inversión residencial en alquiler, Madrid">
      <a:dk1>
        <a:srgbClr val="12263F"/>
      </a:dk1>
      <a:lt1>
        <a:srgbClr val="F6F4EF"/>
      </a:lt1>
      <a:dk2>
        <a:srgbClr val="4B5A6B"/>
      </a:dk2>
      <a:lt2>
        <a:srgbClr val="DFDFDD"/>
      </a:lt2>
      <a:accent1>
        <a:srgbClr val="B85F00"/>
      </a:accent1>
      <a:accent2>
        <a:srgbClr val="F0A24A"/>
      </a:accent2>
      <a:accent3>
        <a:srgbClr val="3D4A5C"/>
      </a:accent3>
      <a:accent4>
        <a:srgbClr val="6A7179"/>
      </a:accent4>
      <a:accent5>
        <a:srgbClr val="B9C4D3"/>
      </a:accent5>
      <a:accent6>
        <a:srgbClr val="D6DDE8"/>
      </a:accent6>
      <a:hlink>
        <a:srgbClr val="0563C1"/>
      </a:hlink>
      <a:folHlink>
        <a:srgbClr val="954F72"/>
      </a:folHlink>
    </a:clrScheme>
    <a:fontScheme name="Radar de inversión residencial en alquiler, Madrid">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2199</Words>
  <Application>Microsoft Office PowerPoint</Application>
  <PresentationFormat>Panorámica</PresentationFormat>
  <Paragraphs>175</Paragraphs>
  <Slides>17</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DM Sans</vt:lpstr>
      <vt:lpstr>Libre Baskerville</vt:lpstr>
      <vt:lpstr>Radar de inversión residencial en alquiler, Madrid</vt:lpstr>
      <vt:lpstr>Madrid: dónde sube el alquiler y dónde se vuelve difícil de pagar</vt:lpstr>
      <vt:lpstr>El alquiler sube más rápido que la renta, pero sin tensión generalizada</vt:lpstr>
      <vt:lpstr>Fuentes oficiales, analizadas a escala de sección censal</vt:lpstr>
      <vt:lpstr>2015–2019: auge generalizado, algo más fuerte en las secciones caras</vt:lpstr>
      <vt:lpstr>2019–2022: el ritmo se frena y el liderazgo pasa a las secciones baratas</vt:lpstr>
      <vt:lpstr>2015–2022: el precio de partida no predijo el crecimiento total</vt:lpstr>
      <vt:lpstr>La mediana de crecimiento anual cayó de 4,4 % a 2,7 % tras 2019</vt:lpstr>
      <vt:lpstr>Centro, Salamanca y Tetuán tienen los mercados internos más heterogéneos</vt:lpstr>
      <vt:lpstr>Dentro de un distrito el alquiler varía más que entre distritos</vt:lpstr>
      <vt:lpstr>Esfuerzo de alquiler moderado en media; Usera, Centro y Puente de Vallecas superan el 25 %</vt:lpstr>
      <vt:lpstr>El alquiler creció casi un punto al año por encima de la renta</vt:lpstr>
      <vt:lpstr>A más hogares unipersonales, alquiler más caro</vt:lpstr>
      <vt:lpstr>Con más de 45 % de hogares unipersonales, el alquiler es un 51 % más caro</vt:lpstr>
      <vt:lpstr>Todos los distritos suben: de 7,4–12,9 €/m² en 2015 a 10,4–18,6 en 2024</vt:lpstr>
      <vt:lpstr>Salamanca lidera el crecimiento; los distritos caros crecen más rápido</vt:lpstr>
      <vt:lpstr>Qué significa para un inversor</vt:lpstr>
      <vt:lpstr>Qué dicen los datos y qué no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Radar de inversión residencial en alquiler, Madrid</dc:title>
  <dc:subject/>
  <dc:creator/>
  <cp:lastModifiedBy>JUAN CARLOS DEL MAR LOSTANAU</cp:lastModifiedBy>
  <cp:revision>7</cp:revision>
  <dcterms:created xsi:type="dcterms:W3CDTF">2026-10-08T23:39:16Z</dcterms:created>
  <dcterms:modified xsi:type="dcterms:W3CDTF">2026-10-09T08:59:53Z</dcterms:modified>
</cp:coreProperties>
</file>